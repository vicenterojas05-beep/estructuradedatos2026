
<file path=[Content_Types].xml><?xml version="1.0" encoding="utf-8"?>
<Types xmlns="http://schemas.openxmlformats.org/package/2006/content-types">
  <Default Extension="xml" ContentType="application/xml"/>
  <Default Extension="gif" ContentType="image/gif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s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4" d="100"/>
          <a:sy n="94" d="100"/>
        </p:scale>
        <p:origin x="1194" y="84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920765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US"/>
          </a:p>
        </p:txBody>
      </p:sp>
      <p:sp>
        <p:nvSpPr>
          <p:cNvPr id="561717515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1727B22-D443-49C1-9EFF-D902DE12A18D}" type="datetimeFigureOut">
              <a:rPr lang="es-US"/>
              <a:t>9/22/2025</a:t>
            </a:fld>
            <a:endParaRPr lang="es-US"/>
          </a:p>
        </p:txBody>
      </p:sp>
      <p:sp>
        <p:nvSpPr>
          <p:cNvPr id="590535642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US"/>
          </a:p>
        </p:txBody>
      </p:sp>
      <p:sp>
        <p:nvSpPr>
          <p:cNvPr id="916394920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US"/>
          </a:p>
        </p:txBody>
      </p:sp>
      <p:sp>
        <p:nvSpPr>
          <p:cNvPr id="1573997692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US"/>
          </a:p>
        </p:txBody>
      </p:sp>
      <p:sp>
        <p:nvSpPr>
          <p:cNvPr id="1183475577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72C4E90-3289-46AF-96A6-2DBF2E2B91DB}" type="slidenum">
              <a:rPr lang="es-US"/>
              <a:t>‹Nº›</a:t>
            </a:fld>
            <a:endParaRPr lang="es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9929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199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893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09AD3B-D383-64D4-F97B-D6D6E83E06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672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8430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477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0F6E24-B47B-C67D-16A2-16BB81A07C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264944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267253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A::p</a:t>
            </a:r>
            <a:endParaRPr/>
          </a:p>
          <a:p>
            <a:pPr>
              <a:defRPr/>
            </a:pPr>
            <a:r>
              <a:rPr lang="pt-BR"/>
              <a:t>A::q</a:t>
            </a:r>
            <a:endParaRPr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/>
              <a:t>A::p</a:t>
            </a:r>
            <a:endParaRPr/>
          </a:p>
          <a:p>
            <a:pPr>
              <a:defRPr/>
            </a:pPr>
            <a:r>
              <a:rPr lang="pt-BR"/>
              <a:t>B::q</a:t>
            </a:r>
            <a:endParaRPr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/>
              <a:t>A::p</a:t>
            </a:r>
            <a:endParaRPr/>
          </a:p>
          <a:p>
            <a:pPr>
              <a:defRPr/>
            </a:pPr>
            <a:r>
              <a:rPr lang="pt-BR"/>
              <a:t>B::q</a:t>
            </a:r>
            <a:endParaRPr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/>
              <a:t>A::p</a:t>
            </a:r>
            <a:endParaRPr/>
          </a:p>
          <a:p>
            <a:pPr>
              <a:defRPr/>
            </a:pPr>
            <a:r>
              <a:rPr lang="pt-BR"/>
              <a:t>A::q</a:t>
            </a:r>
            <a:endParaRPr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/>
              <a:t>A::p</a:t>
            </a:r>
            <a:endParaRPr/>
          </a:p>
          <a:p>
            <a:pPr>
              <a:defRPr/>
            </a:pPr>
            <a:r>
              <a:rPr lang="pt-BR"/>
              <a:t>B::q</a:t>
            </a:r>
            <a:endParaRPr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/>
              <a:t>A::p</a:t>
            </a:r>
            <a:endParaRPr/>
          </a:p>
          <a:p>
            <a:pPr>
              <a:defRPr/>
            </a:pPr>
            <a:r>
              <a:rPr lang="pt-BR"/>
              <a:t>A::q</a:t>
            </a:r>
            <a:endParaRPr/>
          </a:p>
          <a:p>
            <a:pPr>
              <a:defRPr/>
            </a:pPr>
            <a:endParaRPr lang="pt-BR"/>
          </a:p>
        </p:txBody>
      </p:sp>
      <p:sp>
        <p:nvSpPr>
          <p:cNvPr id="701444116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4</a:t>
            </a:fld>
            <a:endParaRPr lang="es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505788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5225403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1.  0</a:t>
            </a:r>
            <a:endParaRPr/>
          </a:p>
          <a:p>
            <a:pPr>
              <a:defRPr/>
            </a:pPr>
            <a:r>
              <a:rPr lang="es-ES"/>
              <a:t>2.  1 =no se puede asignar </a:t>
            </a:r>
            <a:r>
              <a:rPr lang="es-ES"/>
              <a:t>int</a:t>
            </a:r>
            <a:r>
              <a:rPr lang="es-ES"/>
              <a:t> a un puntero</a:t>
            </a:r>
            <a:endParaRPr/>
          </a:p>
          <a:p>
            <a:pPr>
              <a:defRPr/>
            </a:pPr>
            <a:r>
              <a:rPr lang="es-ES"/>
              <a:t>3.  0</a:t>
            </a:r>
            <a:endParaRPr/>
          </a:p>
          <a:p>
            <a:pPr>
              <a:defRPr/>
            </a:pPr>
            <a:r>
              <a:rPr lang="es-ES"/>
              <a:t>4.  0</a:t>
            </a:r>
            <a:endParaRPr/>
          </a:p>
          <a:p>
            <a:pPr>
              <a:defRPr/>
            </a:pPr>
            <a:r>
              <a:rPr lang="es-ES"/>
              <a:t>5.  1 = la variable s no es un puntero</a:t>
            </a:r>
            <a:endParaRPr/>
          </a:p>
          <a:p>
            <a:pPr>
              <a:defRPr/>
            </a:pPr>
            <a:r>
              <a:rPr lang="es-ES"/>
              <a:t>6.  1 = solo se puede </a:t>
            </a:r>
            <a:r>
              <a:rPr lang="es-ES"/>
              <a:t>delete</a:t>
            </a:r>
            <a:r>
              <a:rPr lang="es-ES"/>
              <a:t> a las instancias NEW</a:t>
            </a:r>
            <a:endParaRPr/>
          </a:p>
          <a:p>
            <a:pPr>
              <a:defRPr/>
            </a:pPr>
            <a:r>
              <a:rPr lang="es-ES"/>
              <a:t>7.  0</a:t>
            </a:r>
            <a:endParaRPr/>
          </a:p>
          <a:p>
            <a:pPr>
              <a:defRPr/>
            </a:pPr>
            <a:r>
              <a:rPr lang="es-ES"/>
              <a:t>8.  0</a:t>
            </a:r>
            <a:endParaRPr/>
          </a:p>
          <a:p>
            <a:pPr>
              <a:defRPr/>
            </a:pPr>
            <a:r>
              <a:rPr lang="es-ES"/>
              <a:t>9.  1 =el vector no tiene el índice 10</a:t>
            </a:r>
            <a:endParaRPr/>
          </a:p>
          <a:p>
            <a:pPr>
              <a:defRPr/>
            </a:pPr>
            <a:r>
              <a:rPr lang="es-ES"/>
              <a:t>10.0</a:t>
            </a:r>
            <a:endParaRPr/>
          </a:p>
          <a:p>
            <a:pPr>
              <a:defRPr/>
            </a:pPr>
            <a:r>
              <a:rPr lang="es-ES"/>
              <a:t>11.0</a:t>
            </a:r>
            <a:endParaRPr/>
          </a:p>
          <a:p>
            <a:pPr>
              <a:defRPr/>
            </a:pPr>
            <a:r>
              <a:rPr lang="es-ES"/>
              <a:t>12.0</a:t>
            </a:r>
            <a:endParaRPr/>
          </a:p>
          <a:p>
            <a:pPr>
              <a:defRPr/>
            </a:pPr>
            <a:r>
              <a:rPr lang="es-ES"/>
              <a:t>13.0</a:t>
            </a:r>
            <a:endParaRPr/>
          </a:p>
          <a:p>
            <a:pPr>
              <a:defRPr/>
            </a:pPr>
            <a:r>
              <a:rPr lang="es-ES"/>
              <a:t>14.0</a:t>
            </a:r>
            <a:endParaRPr/>
          </a:p>
          <a:p>
            <a:pPr>
              <a:defRPr/>
            </a:pPr>
            <a:r>
              <a:rPr lang="es-ES"/>
              <a:t>15.0</a:t>
            </a:r>
            <a:endParaRPr/>
          </a:p>
          <a:p>
            <a:pPr>
              <a:defRPr/>
            </a:pPr>
            <a:endParaRPr lang="es-ES"/>
          </a:p>
        </p:txBody>
      </p:sp>
      <p:sp>
        <p:nvSpPr>
          <p:cNvPr id="153424522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5</a:t>
            </a:fld>
            <a:endParaRPr lang="es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67728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4050718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19</a:t>
            </a:r>
            <a:endParaRPr/>
          </a:p>
          <a:p>
            <a:pPr>
              <a:defRPr/>
            </a:pPr>
            <a:endParaRPr lang="es-ES"/>
          </a:p>
          <a:p>
            <a:pPr>
              <a:defRPr/>
            </a:pPr>
            <a:endParaRPr lang="es-US"/>
          </a:p>
        </p:txBody>
      </p:sp>
      <p:sp>
        <p:nvSpPr>
          <p:cNvPr id="668771807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6</a:t>
            </a:fld>
            <a:endParaRPr lang="es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648335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450820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0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B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3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5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C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9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B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3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8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C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18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B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3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11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C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27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B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</p:txBody>
      </p:sp>
      <p:sp>
        <p:nvSpPr>
          <p:cNvPr id="1168228488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7</a:t>
            </a:fld>
            <a:endParaRPr lang="es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2253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6144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801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C9E5E6-4CF9-EB98-044C-AEF7DB0E3D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179689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460585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#include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&lt;iostream&gt;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#include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cmath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&gt;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using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namespace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std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class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private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dato;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public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dato;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next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next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dato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dato;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bool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isPrimo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1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false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true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double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limit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sqrt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for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i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 i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limit;i</a:t>
            </a:r>
            <a:r>
              <a:rPr lang="es-US" b="0">
                <a:solidFill>
                  <a:srgbClr val="C678DD"/>
                </a:solidFill>
                <a:latin typeface="Consolas"/>
              </a:rPr>
              <a:t>++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%</a:t>
            </a:r>
            <a:r>
              <a:rPr lang="es-US" b="0">
                <a:solidFill>
                  <a:srgbClr val="FFFFFF"/>
                </a:solidFill>
                <a:latin typeface="Consolas"/>
              </a:rPr>
              <a:t>i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0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false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true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EliminarPrimos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 i="1">
                <a:solidFill>
                  <a:srgbClr val="5C6370"/>
                </a:solidFill>
                <a:latin typeface="Consolas"/>
              </a:rPr>
              <a:t>    //si la lista es nula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 i="1">
                <a:solidFill>
                  <a:srgbClr val="5C6370"/>
                </a:solidFill>
                <a:latin typeface="Consolas"/>
              </a:rPr>
              <a:t>    //si el </a:t>
            </a:r>
            <a:r>
              <a:rPr lang="es-US" b="0" i="1">
                <a:solidFill>
                  <a:srgbClr val="5C6370"/>
                </a:solidFill>
                <a:latin typeface="Consolas"/>
              </a:rPr>
              <a:t>unico</a:t>
            </a:r>
            <a:r>
              <a:rPr lang="es-US" b="0" i="1">
                <a:solidFill>
                  <a:srgbClr val="5C6370"/>
                </a:solidFill>
                <a:latin typeface="Consolas"/>
              </a:rPr>
              <a:t> elemento es primo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isPrimo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and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prev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temp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isPrimo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prev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    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}</a:t>
            </a:r>
            <a:r>
              <a:rPr lang="es-US" b="0">
                <a:solidFill>
                  <a:srgbClr val="C678DD"/>
                </a:solidFill>
                <a:latin typeface="Consolas"/>
              </a:rPr>
              <a:t>else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prev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prev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r>
              <a:rPr lang="es-US" b="0">
                <a:solidFill>
                  <a:srgbClr val="C678DD"/>
                </a:solidFill>
                <a:latin typeface="Consolas"/>
              </a:rPr>
              <a:t>else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prev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,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nuevo;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temp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temp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temp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temp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temp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temp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temp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temp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temp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temp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98C379"/>
                </a:solidFill>
                <a:latin typeface="Consolas"/>
              </a:rPr>
              <a:t>null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main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3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4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5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EliminarPrimos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0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defRPr/>
            </a:pPr>
            <a:endParaRPr lang="es-US"/>
          </a:p>
        </p:txBody>
      </p:sp>
      <p:sp>
        <p:nvSpPr>
          <p:cNvPr id="1672873098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9</a:t>
            </a:fld>
            <a:endParaRPr lang="es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08093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139644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#include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&lt;iostream&gt;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using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namespace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std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class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private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public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 i="1">
                <a:solidFill>
                  <a:srgbClr val="5C6370"/>
                </a:solidFill>
                <a:latin typeface="Consolas"/>
              </a:rPr>
              <a:t>//Mostrar lista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98C379"/>
                </a:solidFill>
                <a:latin typeface="Consolas"/>
              </a:rPr>
              <a:t>null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//Insertar Nodo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,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nuevo;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and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//verifica si es </a:t>
            </a:r>
            <a:r>
              <a:rPr lang="es-US" b="0" i="1">
                <a:solidFill>
                  <a:srgbClr val="5C6370"/>
                </a:solidFill>
                <a:latin typeface="Consolas"/>
              </a:rPr>
              <a:t>palindromo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bool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r>
              <a:rPr lang="es-US" b="0">
                <a:solidFill>
                  <a:srgbClr val="C678DD"/>
                </a:solidFill>
                <a:latin typeface="Consolas"/>
              </a:rPr>
              <a:t>else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false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true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main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1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3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0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defRPr/>
            </a:pPr>
            <a:endParaRPr lang="es-US"/>
          </a:p>
        </p:txBody>
      </p:sp>
      <p:sp>
        <p:nvSpPr>
          <p:cNvPr id="976152037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11</a:t>
            </a:fld>
            <a:endParaRPr lang="es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28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6280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156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A9DCCD-358E-A537-8F42-FF0158CE6A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140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42289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85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16408D-D4EE-9707-C72D-B0B3C02848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76007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5909122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#include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&lt;iostream&gt;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using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namespace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std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class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private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public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 i="1">
                <a:solidFill>
                  <a:srgbClr val="5C6370"/>
                </a:solidFill>
                <a:latin typeface="Consolas"/>
              </a:rPr>
              <a:t>//Mostrar lista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98C379"/>
                </a:solidFill>
                <a:latin typeface="Consolas"/>
              </a:rPr>
              <a:t>null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//Insertar Nodo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,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nuevo;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and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//verifica si es </a:t>
            </a:r>
            <a:r>
              <a:rPr lang="es-US" b="0" i="1">
                <a:solidFill>
                  <a:srgbClr val="5C6370"/>
                </a:solidFill>
                <a:latin typeface="Consolas"/>
              </a:rPr>
              <a:t>palindromo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bool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r>
              <a:rPr lang="es-US" b="0">
                <a:solidFill>
                  <a:srgbClr val="C678DD"/>
                </a:solidFill>
                <a:latin typeface="Consolas"/>
              </a:rPr>
              <a:t>else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false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true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main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1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3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0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defRPr/>
            </a:pPr>
            <a:endParaRPr lang="es-US"/>
          </a:p>
        </p:txBody>
      </p:sp>
      <p:sp>
        <p:nvSpPr>
          <p:cNvPr id="284798665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14</a:t>
            </a:fld>
            <a:endParaRPr lang="es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250347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0809962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#include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&lt;iostream&gt;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using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namespace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std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class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private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public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 i="1">
                <a:solidFill>
                  <a:srgbClr val="5C6370"/>
                </a:solidFill>
                <a:latin typeface="Consolas"/>
              </a:rPr>
              <a:t>//Mostrar lista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98C379"/>
                </a:solidFill>
                <a:latin typeface="Consolas"/>
              </a:rPr>
              <a:t>null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//Insertar Nodo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,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nuevo;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and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//verifica si es </a:t>
            </a:r>
            <a:r>
              <a:rPr lang="es-US" b="0" i="1">
                <a:solidFill>
                  <a:srgbClr val="5C6370"/>
                </a:solidFill>
                <a:latin typeface="Consolas"/>
              </a:rPr>
              <a:t>palindromo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bool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r>
              <a:rPr lang="es-US" b="0">
                <a:solidFill>
                  <a:srgbClr val="C678DD"/>
                </a:solidFill>
                <a:latin typeface="Consolas"/>
              </a:rPr>
              <a:t>else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false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true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main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1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3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0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defRPr/>
            </a:pPr>
            <a:endParaRPr lang="es-US"/>
          </a:p>
        </p:txBody>
      </p:sp>
      <p:sp>
        <p:nvSpPr>
          <p:cNvPr id="779738297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15</a:t>
            </a:fld>
            <a:endParaRPr lang="es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848522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5974381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#include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&lt;iostream&gt;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using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namespace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std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class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private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public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 i="1">
                <a:solidFill>
                  <a:srgbClr val="5C6370"/>
                </a:solidFill>
                <a:latin typeface="Consolas"/>
              </a:rPr>
              <a:t>//Mostrar lista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98C379"/>
                </a:solidFill>
                <a:latin typeface="Consolas"/>
              </a:rPr>
              <a:t>null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//Insertar Nodo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,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nuevo;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and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//verifica si es </a:t>
            </a:r>
            <a:r>
              <a:rPr lang="es-US" b="0" i="1">
                <a:solidFill>
                  <a:srgbClr val="5C6370"/>
                </a:solidFill>
                <a:latin typeface="Consolas"/>
              </a:rPr>
              <a:t>palindromo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bool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r>
              <a:rPr lang="es-US" b="0">
                <a:solidFill>
                  <a:srgbClr val="C678DD"/>
                </a:solidFill>
                <a:latin typeface="Consolas"/>
              </a:rPr>
              <a:t>else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false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true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main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1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3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0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defRPr/>
            </a:pPr>
            <a:endParaRPr lang="es-US"/>
          </a:p>
        </p:txBody>
      </p:sp>
      <p:sp>
        <p:nvSpPr>
          <p:cNvPr id="362783574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16</a:t>
            </a:fld>
            <a:endParaRPr lang="es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471947" name="Title 1"/>
          <p:cNvSpPr>
            <a:spLocks noGrp="1"/>
          </p:cNvSpPr>
          <p:nvPr>
            <p:ph type="ctrTitle"/>
          </p:nvPr>
        </p:nvSpPr>
        <p:spPr bwMode="auto"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40600918" name="Subtitle 2"/>
          <p:cNvSpPr>
            <a:spLocks noGrp="1"/>
          </p:cNvSpPr>
          <p:nvPr>
            <p:ph type="subTitle" idx="1"/>
          </p:nvPr>
        </p:nvSpPr>
        <p:spPr bwMode="auto"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94056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9C5A860-F335-4252-AA00-24FB67ED2982}" type="datetime1">
              <a:rPr lang="en-US"/>
              <a:t>9/22/2025</a:t>
            </a:fld>
            <a:endParaRPr lang="en-US"/>
          </a:p>
        </p:txBody>
      </p:sp>
      <p:sp>
        <p:nvSpPr>
          <p:cNvPr id="293126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50133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3171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271728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400711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04BC802-30E3-4658-9CCA-F873646FEC67}" type="datetime1">
              <a:rPr lang="en-US"/>
              <a:t>9/22/2025</a:t>
            </a:fld>
            <a:endParaRPr lang="en-US"/>
          </a:p>
        </p:txBody>
      </p:sp>
      <p:sp>
        <p:nvSpPr>
          <p:cNvPr id="14806191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8859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232617" name="Title 1"/>
          <p:cNvSpPr>
            <a:spLocks noGrp="1"/>
          </p:cNvSpPr>
          <p:nvPr>
            <p:ph type="title"/>
          </p:nvPr>
        </p:nvSpPr>
        <p:spPr bwMode="auto"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21793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362071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AB227A3-19CE-4153-81CE-64EB7AB094B3}" type="datetime1">
              <a:rPr lang="en-US"/>
              <a:t>9/22/2025</a:t>
            </a:fld>
            <a:endParaRPr lang="en-US"/>
          </a:p>
        </p:txBody>
      </p:sp>
      <p:sp>
        <p:nvSpPr>
          <p:cNvPr id="11097069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7243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7835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1739190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2081369"/>
            <a:ext cx="5410200" cy="409559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892279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2" y="2081369"/>
            <a:ext cx="5410200" cy="409559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00001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819A100-10F6-477E-8847-29D479EF1C92}" type="datetime1">
              <a:rPr lang="en-US"/>
              <a:t>9/22/2025</a:t>
            </a:fld>
            <a:endParaRPr lang="en-US"/>
          </a:p>
        </p:txBody>
      </p:sp>
      <p:sp>
        <p:nvSpPr>
          <p:cNvPr id="2553020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9317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118535" name="Title 1"/>
          <p:cNvSpPr>
            <a:spLocks noGrp="1"/>
          </p:cNvSpPr>
          <p:nvPr>
            <p:ph type="title"/>
          </p:nvPr>
        </p:nvSpPr>
        <p:spPr bwMode="auto">
          <a:xfrm>
            <a:off x="609600" y="365125"/>
            <a:ext cx="10745788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70550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534427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842211"/>
            <a:ext cx="5387975" cy="334745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891045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650028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67890" y="2842211"/>
            <a:ext cx="5414510" cy="334745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9102045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DF128AB-198A-495F-8475-FDB360C9873F}" type="datetime1">
              <a:rPr lang="en-US"/>
              <a:t>9/22/2025</a:t>
            </a:fld>
            <a:endParaRPr lang="en-US"/>
          </a:p>
        </p:txBody>
      </p:sp>
      <p:sp>
        <p:nvSpPr>
          <p:cNvPr id="45314906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70945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2631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727493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21A235E-F8FD-479F-9FC7-18BE84110877}" type="datetime1">
              <a:rPr lang="en-US"/>
              <a:t>9/22/2025</a:t>
            </a:fld>
            <a:endParaRPr lang="en-US"/>
          </a:p>
        </p:txBody>
      </p:sp>
      <p:sp>
        <p:nvSpPr>
          <p:cNvPr id="128976950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903853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277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90F09B-68DA-462E-9DB4-4C9ADAB8CBCC}" type="datetime1">
              <a:rPr lang="en-US"/>
              <a:t>9/22/2025</a:t>
            </a:fld>
            <a:endParaRPr lang="en-US"/>
          </a:p>
        </p:txBody>
      </p:sp>
      <p:sp>
        <p:nvSpPr>
          <p:cNvPr id="11857372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990837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13240" name="Title 1"/>
          <p:cNvSpPr>
            <a:spLocks noGrp="1"/>
          </p:cNvSpPr>
          <p:nvPr>
            <p:ph type="title"/>
          </p:nvPr>
        </p:nvSpPr>
        <p:spPr bwMode="auto"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7681537" name="Content Placeholder 2"/>
          <p:cNvSpPr>
            <a:spLocks noGrp="1"/>
          </p:cNvSpPr>
          <p:nvPr>
            <p:ph idx="1"/>
          </p:nvPr>
        </p:nvSpPr>
        <p:spPr bwMode="auto"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89909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40845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7AC4E36-FABE-47EB-AA7F-C19A93824617}" type="datetime1">
              <a:rPr lang="en-US"/>
              <a:t>9/22/2025</a:t>
            </a:fld>
            <a:endParaRPr lang="en-US"/>
          </a:p>
        </p:txBody>
      </p:sp>
      <p:sp>
        <p:nvSpPr>
          <p:cNvPr id="21286511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88760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197337" name="Title 1"/>
          <p:cNvSpPr>
            <a:spLocks noGrp="1"/>
          </p:cNvSpPr>
          <p:nvPr>
            <p:ph type="title"/>
          </p:nvPr>
        </p:nvSpPr>
        <p:spPr bwMode="auto"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146565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37082669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45978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199CE6B-5DE6-4A2D-B72E-5E8969F9F56F}" type="datetime1">
              <a:rPr lang="en-US"/>
              <a:t>9/22/2025</a:t>
            </a:fld>
            <a:endParaRPr lang="en-US"/>
          </a:p>
        </p:txBody>
      </p:sp>
      <p:sp>
        <p:nvSpPr>
          <p:cNvPr id="9777836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85011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6433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265775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348841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6AB1048-0047-48CA-88BA-D69B470942CF}" type="datetime1">
              <a:rPr lang="en-US"/>
              <a:t>9/22/2025</a:t>
            </a:fld>
            <a:endParaRPr lang="en-US"/>
          </a:p>
        </p:txBody>
      </p:sp>
      <p:sp>
        <p:nvSpPr>
          <p:cNvPr id="155880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0225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28950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557784"/>
            <a:ext cx="2854452" cy="5643420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47525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12648" y="557784"/>
            <a:ext cx="7734300" cy="5643420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47053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D83879-648C-49A9-81A2-0EF5946532D0}" type="datetime1">
              <a:rPr lang="en-US"/>
              <a:t>9/22/2025</a:t>
            </a:fld>
            <a:endParaRPr lang="en-US"/>
          </a:p>
        </p:txBody>
      </p:sp>
      <p:sp>
        <p:nvSpPr>
          <p:cNvPr id="11817643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05629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157973" name="Rectangle 6"/>
          <p:cNvSpPr/>
          <p:nvPr/>
        </p:nvSpPr>
        <p:spPr bwMode="auto"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989068" name="Freeform: Shape 7"/>
          <p:cNvSpPr/>
          <p:nvPr/>
        </p:nvSpPr>
        <p:spPr bwMode="auto"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 fill="norm" stroke="1" extrusionOk="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50058940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28263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43634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cap="all" spc="200">
                <a:solidFill>
                  <a:schemeClr val="tx1"/>
                </a:solidFill>
                <a:latin typeface="+mn-lt"/>
                <a:ea typeface="+mn-ea"/>
                <a:cs typeface="Segoe UI Semilight"/>
              </a:defRPr>
            </a:lvl1pPr>
          </a:lstStyle>
          <a:p>
            <a:pPr>
              <a:defRPr/>
            </a:pPr>
            <a:fld id="{F481A142-DA77-4A5F-AD1F-14E6C18F0F5F}" type="datetime1">
              <a:rPr lang="en-US"/>
              <a:t>9/22/2025</a:t>
            </a:fld>
            <a:endParaRPr lang="en-US"/>
          </a:p>
        </p:txBody>
      </p:sp>
      <p:sp>
        <p:nvSpPr>
          <p:cNvPr id="155957956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cap="all" spc="200">
                <a:solidFill>
                  <a:schemeClr val="tx1"/>
                </a:solidFill>
                <a:latin typeface="+mn-lt"/>
                <a:ea typeface="+mn-ea"/>
                <a:cs typeface="Segoe UI Semiligh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052789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cap="all" spc="200">
                <a:solidFill>
                  <a:schemeClr val="tx1"/>
                </a:solidFill>
                <a:latin typeface="+mn-lt"/>
                <a:ea typeface="+mn-ea"/>
                <a:cs typeface="Segoe UI Semilight"/>
              </a:defRPr>
            </a:lvl1pPr>
          </a:lstStyle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l" defTabSz="914400" rtl="0">
        <a:lnSpc>
          <a:spcPct val="10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>
        <a:lnSpc>
          <a:spcPct val="110000"/>
        </a:lnSpc>
        <a:spcBef>
          <a:spcPts val="1000"/>
        </a:spcBef>
        <a:buClr>
          <a:schemeClr val="accent5"/>
        </a:buClr>
        <a:buFont typeface="Avenir Next LT Pro"/>
        <a:buNone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>
        <a:lnSpc>
          <a:spcPct val="110000"/>
        </a:lnSpc>
        <a:spcBef>
          <a:spcPts val="500"/>
        </a:spcBef>
        <a:buClr>
          <a:schemeClr val="accent5"/>
        </a:buClr>
        <a:buFont typeface="Avenir Next LT Pro"/>
        <a:buNone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>
        <a:lnSpc>
          <a:spcPct val="110000"/>
        </a:lnSpc>
        <a:spcBef>
          <a:spcPts val="500"/>
        </a:spcBef>
        <a:buClr>
          <a:schemeClr val="accent5"/>
        </a:buClr>
        <a:buFont typeface="Avenir Next LT Pro"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>
        <a:lnSpc>
          <a:spcPct val="110000"/>
        </a:lnSpc>
        <a:spcBef>
          <a:spcPts val="500"/>
        </a:spcBef>
        <a:buClr>
          <a:schemeClr val="accent5"/>
        </a:buClr>
        <a:buFont typeface="Avenir Next LT Pro"/>
        <a:buNone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>
        <a:lnSpc>
          <a:spcPct val="110000"/>
        </a:lnSpc>
        <a:spcBef>
          <a:spcPts val="500"/>
        </a:spcBef>
        <a:buClr>
          <a:schemeClr val="accent5"/>
        </a:buClr>
        <a:buFont typeface="Avenir Next LT Pro"/>
        <a:buNone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gif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891516382" name="Rectangle 1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297779107" name="Rectangle 19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55347606" name="Imagen 12" descr="Texto&#10;&#10;Descripción generada automáticamente"/>
          <p:cNvPicPr>
            <a:picLocks noChangeAspect="1"/>
          </p:cNvPicPr>
          <p:nvPr/>
        </p:nvPicPr>
        <p:blipFill rotWithShape="1">
          <a:blip r:embed="rId3"/>
          <a:srcRect l="0" t="0" r="23045" b="-1"/>
          <a:stretch/>
        </p:blipFill>
        <p:spPr bwMode="auto">
          <a:xfrm>
            <a:off x="4285860" y="10"/>
            <a:ext cx="7906139" cy="6857989"/>
          </a:xfrm>
          <a:prstGeom prst="rect">
            <a:avLst/>
          </a:prstGeom>
        </p:spPr>
      </p:pic>
      <p:sp useBgFill="1">
        <p:nvSpPr>
          <p:cNvPr id="1969360657" name="Freeform: Shape 2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" y="0"/>
            <a:ext cx="5592970" cy="6858000"/>
          </a:xfrm>
          <a:custGeom>
            <a:avLst/>
            <a:gdLst>
              <a:gd name="connsiteX0" fmla="*/ 4912746 w 5592970"/>
              <a:gd name="connsiteY0" fmla="*/ 2355321 h 6897159"/>
              <a:gd name="connsiteX1" fmla="*/ 4714738 w 5592970"/>
              <a:gd name="connsiteY1" fmla="*/ 2553329 h 6897159"/>
              <a:gd name="connsiteX2" fmla="*/ 4912746 w 5592970"/>
              <a:gd name="connsiteY2" fmla="*/ 2751337 h 6897159"/>
              <a:gd name="connsiteX3" fmla="*/ 5110754 w 5592970"/>
              <a:gd name="connsiteY3" fmla="*/ 2553329 h 6897159"/>
              <a:gd name="connsiteX4" fmla="*/ 4912746 w 5592970"/>
              <a:gd name="connsiteY4" fmla="*/ 2355321 h 6897159"/>
              <a:gd name="connsiteX5" fmla="*/ 4769785 w 5592970"/>
              <a:gd name="connsiteY5" fmla="*/ 1301525 h 6897159"/>
              <a:gd name="connsiteX6" fmla="*/ 4358192 w 5592970"/>
              <a:gd name="connsiteY6" fmla="*/ 1713118 h 6897159"/>
              <a:gd name="connsiteX7" fmla="*/ 4769785 w 5592970"/>
              <a:gd name="connsiteY7" fmla="*/ 2124711 h 6897159"/>
              <a:gd name="connsiteX8" fmla="*/ 5181378 w 5592970"/>
              <a:gd name="connsiteY8" fmla="*/ 1713118 h 6897159"/>
              <a:gd name="connsiteX9" fmla="*/ 4769785 w 5592970"/>
              <a:gd name="connsiteY9" fmla="*/ 1301525 h 6897159"/>
              <a:gd name="connsiteX10" fmla="*/ 1485712 w 5592970"/>
              <a:gd name="connsiteY10" fmla="*/ 0 h 6897159"/>
              <a:gd name="connsiteX11" fmla="*/ 1911850 w 5592970"/>
              <a:gd name="connsiteY11" fmla="*/ 0 h 6897159"/>
              <a:gd name="connsiteX12" fmla="*/ 4693359 w 5592970"/>
              <a:gd name="connsiteY12" fmla="*/ 0 h 6897159"/>
              <a:gd name="connsiteX13" fmla="*/ 4687196 w 5592970"/>
              <a:gd name="connsiteY13" fmla="*/ 186052 h 6897159"/>
              <a:gd name="connsiteX14" fmla="*/ 4689492 w 5592970"/>
              <a:gd name="connsiteY14" fmla="*/ 422393 h 6897159"/>
              <a:gd name="connsiteX15" fmla="*/ 5029277 w 5592970"/>
              <a:gd name="connsiteY15" fmla="*/ 1074198 h 6897159"/>
              <a:gd name="connsiteX16" fmla="*/ 5368989 w 5592970"/>
              <a:gd name="connsiteY16" fmla="*/ 2604190 h 6897159"/>
              <a:gd name="connsiteX17" fmla="*/ 5030698 w 5592970"/>
              <a:gd name="connsiteY17" fmla="*/ 3182337 h 6897159"/>
              <a:gd name="connsiteX18" fmla="*/ 4910556 w 5592970"/>
              <a:gd name="connsiteY18" fmla="*/ 4667756 h 6897159"/>
              <a:gd name="connsiteX19" fmla="*/ 5374561 w 5592970"/>
              <a:gd name="connsiteY19" fmla="*/ 5703238 h 6897159"/>
              <a:gd name="connsiteX20" fmla="*/ 5591170 w 5592970"/>
              <a:gd name="connsiteY20" fmla="*/ 6745970 h 6897159"/>
              <a:gd name="connsiteX21" fmla="*/ 5592970 w 5592970"/>
              <a:gd name="connsiteY21" fmla="*/ 6897158 h 6897159"/>
              <a:gd name="connsiteX22" fmla="*/ 2734191 w 5592970"/>
              <a:gd name="connsiteY22" fmla="*/ 6897158 h 6897159"/>
              <a:gd name="connsiteX23" fmla="*/ 2734191 w 5592970"/>
              <a:gd name="connsiteY23" fmla="*/ 6897159 h 6897159"/>
              <a:gd name="connsiteX24" fmla="*/ 0 w 5592970"/>
              <a:gd name="connsiteY24" fmla="*/ 6897159 h 6897159"/>
              <a:gd name="connsiteX25" fmla="*/ 0 w 5592970"/>
              <a:gd name="connsiteY25" fmla="*/ 1 h 6897159"/>
              <a:gd name="connsiteX26" fmla="*/ 1485712 w 5592970"/>
              <a:gd name="connsiteY26" fmla="*/ 1 h 689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92970" h="6897159" fill="norm" stroke="1" extrusionOk="0">
                <a:moveTo>
                  <a:pt x="4912746" y="2355321"/>
                </a:moveTo>
                <a:cubicBezTo>
                  <a:pt x="4803389" y="2355321"/>
                  <a:pt x="4714738" y="2443972"/>
                  <a:pt x="4714738" y="2553329"/>
                </a:cubicBezTo>
                <a:cubicBezTo>
                  <a:pt x="4714738" y="2662686"/>
                  <a:pt x="4803389" y="2751337"/>
                  <a:pt x="4912746" y="2751337"/>
                </a:cubicBezTo>
                <a:cubicBezTo>
                  <a:pt x="5022103" y="2751337"/>
                  <a:pt x="5110754" y="2662686"/>
                  <a:pt x="5110754" y="2553329"/>
                </a:cubicBezTo>
                <a:cubicBezTo>
                  <a:pt x="5110754" y="2443972"/>
                  <a:pt x="5022103" y="2355321"/>
                  <a:pt x="4912746" y="2355321"/>
                </a:cubicBezTo>
                <a:close/>
                <a:moveTo>
                  <a:pt x="4769785" y="1301525"/>
                </a:moveTo>
                <a:cubicBezTo>
                  <a:pt x="4542468" y="1301525"/>
                  <a:pt x="4358192" y="1485801"/>
                  <a:pt x="4358192" y="1713118"/>
                </a:cubicBezTo>
                <a:cubicBezTo>
                  <a:pt x="4358192" y="1940435"/>
                  <a:pt x="4542468" y="2124711"/>
                  <a:pt x="4769785" y="2124711"/>
                </a:cubicBezTo>
                <a:cubicBezTo>
                  <a:pt x="4997102" y="2124711"/>
                  <a:pt x="5181378" y="1940435"/>
                  <a:pt x="5181378" y="1713118"/>
                </a:cubicBezTo>
                <a:cubicBezTo>
                  <a:pt x="5181378" y="1485801"/>
                  <a:pt x="4997102" y="1301525"/>
                  <a:pt x="4769785" y="1301525"/>
                </a:cubicBezTo>
                <a:close/>
                <a:moveTo>
                  <a:pt x="1485712" y="0"/>
                </a:moveTo>
                <a:lnTo>
                  <a:pt x="1911850" y="0"/>
                </a:lnTo>
                <a:lnTo>
                  <a:pt x="4693359" y="0"/>
                </a:lnTo>
                <a:lnTo>
                  <a:pt x="4687196" y="186052"/>
                </a:lnTo>
                <a:cubicBezTo>
                  <a:pt x="4686166" y="265025"/>
                  <a:pt x="4686829" y="343862"/>
                  <a:pt x="4689492" y="422393"/>
                </a:cubicBezTo>
                <a:cubicBezTo>
                  <a:pt x="4699496" y="713539"/>
                  <a:pt x="4872938" y="896626"/>
                  <a:pt x="5029277" y="1074198"/>
                </a:cubicBezTo>
                <a:cubicBezTo>
                  <a:pt x="5418992" y="1516672"/>
                  <a:pt x="5551614" y="2043761"/>
                  <a:pt x="5368989" y="2604190"/>
                </a:cubicBezTo>
                <a:cubicBezTo>
                  <a:pt x="5298163" y="2821542"/>
                  <a:pt x="5160452" y="3010355"/>
                  <a:pt x="5030698" y="3182337"/>
                </a:cubicBezTo>
                <a:cubicBezTo>
                  <a:pt x="4682698" y="3643429"/>
                  <a:pt x="4696957" y="4178177"/>
                  <a:pt x="4910556" y="4667756"/>
                </a:cubicBezTo>
                <a:cubicBezTo>
                  <a:pt x="5062728" y="5015306"/>
                  <a:pt x="5245193" y="5341884"/>
                  <a:pt x="5374561" y="5703238"/>
                </a:cubicBezTo>
                <a:cubicBezTo>
                  <a:pt x="5500512" y="6053410"/>
                  <a:pt x="5575240" y="6402760"/>
                  <a:pt x="5591170" y="6745970"/>
                </a:cubicBezTo>
                <a:lnTo>
                  <a:pt x="5592970" y="6897158"/>
                </a:lnTo>
                <a:lnTo>
                  <a:pt x="2734191" y="6897158"/>
                </a:lnTo>
                <a:lnTo>
                  <a:pt x="2734191" y="6897159"/>
                </a:lnTo>
                <a:lnTo>
                  <a:pt x="0" y="6897159"/>
                </a:lnTo>
                <a:lnTo>
                  <a:pt x="0" y="1"/>
                </a:lnTo>
                <a:lnTo>
                  <a:pt x="1485712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31228045" name="Título 1"/>
          <p:cNvSpPr>
            <a:spLocks noGrp="1"/>
          </p:cNvSpPr>
          <p:nvPr>
            <p:ph type="ctrTitle"/>
          </p:nvPr>
        </p:nvSpPr>
        <p:spPr bwMode="auto">
          <a:xfrm>
            <a:off x="768569" y="2445620"/>
            <a:ext cx="4197073" cy="2387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"/>
              <a:t>Ayudantía intensiva Estructura de datos PP</a:t>
            </a:r>
            <a:r>
              <a:rPr lang="ca-ES"/>
              <a:t>5</a:t>
            </a:r>
            <a:endParaRPr lang="es-US"/>
          </a:p>
        </p:txBody>
      </p:sp>
      <p:sp>
        <p:nvSpPr>
          <p:cNvPr id="952380932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025529" y="5166939"/>
            <a:ext cx="3541909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ES"/>
              <a:t>Cristian Nuñez</a:t>
            </a:r>
            <a:endParaRPr/>
          </a:p>
          <a:p>
            <a:pPr>
              <a:defRPr/>
            </a:pPr>
            <a:endParaRPr lang="es-ES"/>
          </a:p>
          <a:p>
            <a:pPr>
              <a:defRPr/>
            </a:pPr>
            <a:endParaRPr lang="es-US"/>
          </a:p>
        </p:txBody>
      </p:sp>
      <p:pic>
        <p:nvPicPr>
          <p:cNvPr id="177393197" name="Imagen 16" descr="Logotipo&#10;&#10;Descripción generada automáticament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799217" y="152423"/>
            <a:ext cx="1175704" cy="1175704"/>
          </a:xfrm>
          <a:prstGeom prst="rect">
            <a:avLst/>
          </a:prstGeom>
        </p:spPr>
      </p:pic>
      <p:pic>
        <p:nvPicPr>
          <p:cNvPr id="298379169" name="Imagen 4" descr="Imagen que contiene firmar, sostener, dibujo, alimentos&#10;&#10;Descripción generada automáticament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17079" y="0"/>
            <a:ext cx="3127519" cy="13656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183505" name="Título 1"/>
          <p:cNvSpPr>
            <a:spLocks noGrp="1"/>
          </p:cNvSpPr>
          <p:nvPr>
            <p:ph type="title"/>
          </p:nvPr>
        </p:nvSpPr>
        <p:spPr bwMode="auto">
          <a:xfrm>
            <a:off x="4419600" y="115846"/>
            <a:ext cx="8414657" cy="1325563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es-ES">
                <a:solidFill>
                  <a:srgbClr val="B0EBDF"/>
                </a:solidFill>
              </a:rPr>
              <a:t>Contenidos</a:t>
            </a:r>
            <a:endParaRPr lang="es-US">
              <a:solidFill>
                <a:srgbClr val="B0EBDF"/>
              </a:solidFill>
            </a:endParaRPr>
          </a:p>
        </p:txBody>
      </p:sp>
      <p:sp>
        <p:nvSpPr>
          <p:cNvPr id="967874995" name="CuadroTexto 3"/>
          <p:cNvSpPr txBox="1"/>
          <p:nvPr/>
        </p:nvSpPr>
        <p:spPr bwMode="auto">
          <a:xfrm>
            <a:off x="727587" y="2141892"/>
            <a:ext cx="2077998" cy="762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ca-ES" sz="4400">
                <a:latin typeface="+mj-lt"/>
              </a:rPr>
              <a:t>HEAPS</a:t>
            </a:r>
            <a:endParaRPr lang="es-US" sz="440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737593" name="Título 1"/>
          <p:cNvSpPr txBox="1"/>
          <p:nvPr/>
        </p:nvSpPr>
        <p:spPr bwMode="auto">
          <a:xfrm>
            <a:off x="609600" y="-330002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1 </a:t>
            </a:r>
            <a:endParaRPr lang="es-US"/>
          </a:p>
        </p:txBody>
      </p:sp>
      <p:sp>
        <p:nvSpPr>
          <p:cNvPr id="1338812016" name="Título 1"/>
          <p:cNvSpPr txBox="1"/>
          <p:nvPr/>
        </p:nvSpPr>
        <p:spPr bwMode="auto">
          <a:xfrm>
            <a:off x="1447426" y="437255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ca-ES"/>
              <a:t>Construir Max-heap</a:t>
            </a:r>
            <a:r>
              <a:rPr lang="es-ES"/>
              <a:t> </a:t>
            </a:r>
            <a:endParaRPr lang="es-US"/>
          </a:p>
        </p:txBody>
      </p:sp>
      <p:sp>
        <p:nvSpPr>
          <p:cNvPr id="184975182" name="Título 1"/>
          <p:cNvSpPr txBox="1"/>
          <p:nvPr/>
        </p:nvSpPr>
        <p:spPr bwMode="auto">
          <a:xfrm>
            <a:off x="768723" y="2191799"/>
            <a:ext cx="109728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US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= [4, 10, 3, 5, 1]</a:t>
            </a:r>
            <a:endParaRPr lang="es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657508" name="Título 1"/>
          <p:cNvSpPr txBox="1"/>
          <p:nvPr/>
        </p:nvSpPr>
        <p:spPr bwMode="auto">
          <a:xfrm>
            <a:off x="609600" y="-330002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2</a:t>
            </a:r>
            <a:endParaRPr lang="es-US"/>
          </a:p>
        </p:txBody>
      </p:sp>
      <p:sp>
        <p:nvSpPr>
          <p:cNvPr id="1078232494" name="Título 1"/>
          <p:cNvSpPr txBox="1"/>
          <p:nvPr/>
        </p:nvSpPr>
        <p:spPr bwMode="auto">
          <a:xfrm>
            <a:off x="394473" y="3933287"/>
            <a:ext cx="368078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ca-ES" sz="4000"/>
              <a:t>Arma el heap (max-heap), inserta un 12 y vuelve a armar el heap</a:t>
            </a:r>
            <a:endParaRPr lang="es-US" sz="4000"/>
          </a:p>
        </p:txBody>
      </p:sp>
      <p:sp>
        <p:nvSpPr>
          <p:cNvPr id="1859764510" name="Título 1"/>
          <p:cNvSpPr txBox="1"/>
          <p:nvPr/>
        </p:nvSpPr>
        <p:spPr bwMode="auto">
          <a:xfrm flipH="0" flipV="0">
            <a:off x="6177828" y="2215051"/>
            <a:ext cx="5589303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2600" b="1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H = [15, 10, 8, 5, 3]</a:t>
            </a:r>
            <a:endParaRPr lang="es-US" sz="4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208618" name="Título 1"/>
          <p:cNvSpPr txBox="1"/>
          <p:nvPr/>
        </p:nvSpPr>
        <p:spPr bwMode="auto">
          <a:xfrm>
            <a:off x="609600" y="-330002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3 </a:t>
            </a:r>
            <a:endParaRPr lang="es-US"/>
          </a:p>
        </p:txBody>
      </p:sp>
      <p:sp>
        <p:nvSpPr>
          <p:cNvPr id="1224933605" name="Título 1"/>
          <p:cNvSpPr txBox="1"/>
          <p:nvPr/>
        </p:nvSpPr>
        <p:spPr bwMode="auto">
          <a:xfrm>
            <a:off x="269035" y="2103436"/>
            <a:ext cx="4674753" cy="1325563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70000" lnSpcReduction="6000"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ca-ES"/>
              <a:t>Realiza un ordenamiento heapsort (Max-heap)</a:t>
            </a:r>
            <a:endParaRPr lang="es-US"/>
          </a:p>
        </p:txBody>
      </p:sp>
      <p:sp>
        <p:nvSpPr>
          <p:cNvPr id="240991017" name="Título 1"/>
          <p:cNvSpPr txBox="1"/>
          <p:nvPr/>
        </p:nvSpPr>
        <p:spPr bwMode="auto">
          <a:xfrm>
            <a:off x="460188" y="3778201"/>
            <a:ext cx="4674753" cy="1325562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US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= [7, 2, 9, 4</a:t>
            </a:r>
            <a:r>
              <a:rPr lang="ca-ES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3</a:t>
            </a:r>
            <a:r>
              <a:rPr lang="es-US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]</a:t>
            </a:r>
            <a:r>
              <a:rPr lang="es-ES"/>
              <a:t> </a:t>
            </a:r>
            <a:endParaRPr lang="es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061038" name="Título 1"/>
          <p:cNvSpPr txBox="1"/>
          <p:nvPr/>
        </p:nvSpPr>
        <p:spPr bwMode="auto">
          <a:xfrm>
            <a:off x="609600" y="-330002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4 </a:t>
            </a:r>
            <a:endParaRPr lang="es-US"/>
          </a:p>
        </p:txBody>
      </p:sp>
      <p:sp>
        <p:nvSpPr>
          <p:cNvPr id="258369405" name="Título 1"/>
          <p:cNvSpPr txBox="1"/>
          <p:nvPr/>
        </p:nvSpPr>
        <p:spPr bwMode="auto">
          <a:xfrm>
            <a:off x="269035" y="2103436"/>
            <a:ext cx="467475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s-US"/>
          </a:p>
        </p:txBody>
      </p:sp>
      <p:sp>
        <p:nvSpPr>
          <p:cNvPr id="1261756077" name="Título 1"/>
          <p:cNvSpPr txBox="1"/>
          <p:nvPr/>
        </p:nvSpPr>
        <p:spPr bwMode="auto">
          <a:xfrm flipH="0" flipV="0">
            <a:off x="2674355" y="2320985"/>
            <a:ext cx="7505276" cy="1325562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ca-ES"/>
              <a:t>CODIGO DE HEAPSORT</a:t>
            </a:r>
            <a:endParaRPr lang="es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11729" name="Título 1"/>
          <p:cNvSpPr>
            <a:spLocks noGrp="1"/>
          </p:cNvSpPr>
          <p:nvPr>
            <p:ph type="title"/>
          </p:nvPr>
        </p:nvSpPr>
        <p:spPr bwMode="auto">
          <a:xfrm>
            <a:off x="6940062" y="-364800"/>
            <a:ext cx="8414657" cy="1325563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es-ES">
                <a:solidFill>
                  <a:srgbClr val="B0EBDF"/>
                </a:solidFill>
              </a:rPr>
              <a:t>Listas enlazadas </a:t>
            </a:r>
            <a:endParaRPr lang="es-US">
              <a:solidFill>
                <a:srgbClr val="B0EBDF"/>
              </a:solidFill>
            </a:endParaRPr>
          </a:p>
        </p:txBody>
      </p:sp>
      <p:pic>
        <p:nvPicPr>
          <p:cNvPr id="1114090089" name="Imagen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0817" y="1008075"/>
            <a:ext cx="8961767" cy="1700353"/>
          </a:xfrm>
          <a:prstGeom prst="rect">
            <a:avLst/>
          </a:prstGeom>
        </p:spPr>
      </p:pic>
      <p:pic>
        <p:nvPicPr>
          <p:cNvPr id="1426660576" name="Imagen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99724" y="2490656"/>
            <a:ext cx="6906589" cy="1876687"/>
          </a:xfrm>
          <a:prstGeom prst="rect">
            <a:avLst/>
          </a:prstGeom>
        </p:spPr>
      </p:pic>
      <p:pic>
        <p:nvPicPr>
          <p:cNvPr id="2113385879" name="Imagen 8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206639" y="4367343"/>
            <a:ext cx="6754168" cy="16671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353018" name="Título 1"/>
          <p:cNvSpPr>
            <a:spLocks noGrp="1"/>
          </p:cNvSpPr>
          <p:nvPr>
            <p:ph type="title"/>
          </p:nvPr>
        </p:nvSpPr>
        <p:spPr bwMode="auto">
          <a:xfrm>
            <a:off x="7582077" y="-378596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Listas enlazadas  </a:t>
            </a:r>
            <a:endParaRPr lang="es-US"/>
          </a:p>
        </p:txBody>
      </p:sp>
      <p:sp>
        <p:nvSpPr>
          <p:cNvPr id="501264474" name="CuadroTexto 5"/>
          <p:cNvSpPr txBox="1"/>
          <p:nvPr/>
        </p:nvSpPr>
        <p:spPr bwMode="auto">
          <a:xfrm>
            <a:off x="512468" y="3678091"/>
            <a:ext cx="109024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s-ES" sz="2400">
                <a:latin typeface="ADLaM Display"/>
                <a:ea typeface="ADLaM Display"/>
                <a:cs typeface="ADLaM Display"/>
              </a:rPr>
              <a:t>Desafío:</a:t>
            </a:r>
            <a:endParaRPr/>
          </a:p>
          <a:p>
            <a:pPr>
              <a:defRPr/>
            </a:pPr>
            <a:r>
              <a:rPr lang="es-ES" sz="2400">
                <a:latin typeface="ADLaM Display"/>
                <a:ea typeface="ADLaM Display"/>
                <a:cs typeface="ADLaM Display"/>
              </a:rPr>
              <a:t>Tengo una lista enlazada simple que almacena números de forma desordenada desde el 1 hasta el numero N.</a:t>
            </a:r>
            <a:endParaRPr/>
          </a:p>
          <a:p>
            <a:pPr>
              <a:defRPr/>
            </a:pPr>
            <a:endParaRPr lang="es-ES" sz="2400">
              <a:latin typeface="ADLaM Display"/>
              <a:ea typeface="ADLaM Display"/>
              <a:cs typeface="ADLaM Display"/>
            </a:endParaRPr>
          </a:p>
          <a:p>
            <a:pPr>
              <a:defRPr/>
            </a:pPr>
            <a:r>
              <a:rPr lang="es-ES" sz="2400">
                <a:latin typeface="ADLaM Display"/>
                <a:ea typeface="ADLaM Display"/>
                <a:cs typeface="ADLaM Display"/>
              </a:rPr>
              <a:t>Crear una función que pueda eliminar todos los números primos de la lista enlazada.</a:t>
            </a:r>
            <a:endParaRPr/>
          </a:p>
        </p:txBody>
      </p:sp>
      <p:pic>
        <p:nvPicPr>
          <p:cNvPr id="81664173" name="Imagen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44950" y="434910"/>
            <a:ext cx="3457769" cy="3144815"/>
          </a:xfrm>
          <a:prstGeom prst="rect">
            <a:avLst/>
          </a:prstGeom>
        </p:spPr>
      </p:pic>
      <p:sp>
        <p:nvSpPr>
          <p:cNvPr id="533261038" name="Título 1"/>
          <p:cNvSpPr txBox="1"/>
          <p:nvPr/>
        </p:nvSpPr>
        <p:spPr bwMode="auto">
          <a:xfrm>
            <a:off x="269631" y="-329413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1 </a:t>
            </a:r>
            <a:endParaRPr lang="es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90794" name="Título 1"/>
          <p:cNvSpPr>
            <a:spLocks noGrp="1"/>
          </p:cNvSpPr>
          <p:nvPr>
            <p:ph type="title"/>
          </p:nvPr>
        </p:nvSpPr>
        <p:spPr bwMode="auto">
          <a:xfrm>
            <a:off x="7582077" y="-378596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Listas enlazadas  </a:t>
            </a:r>
            <a:endParaRPr lang="es-US"/>
          </a:p>
        </p:txBody>
      </p:sp>
      <p:sp>
        <p:nvSpPr>
          <p:cNvPr id="1632124300" name="CuadroTexto 5"/>
          <p:cNvSpPr txBox="1"/>
          <p:nvPr/>
        </p:nvSpPr>
        <p:spPr bwMode="auto">
          <a:xfrm>
            <a:off x="512468" y="3678091"/>
            <a:ext cx="109024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s-ES" sz="2400">
                <a:latin typeface="ADLaM Display"/>
                <a:ea typeface="ADLaM Display"/>
                <a:cs typeface="ADLaM Display"/>
              </a:rPr>
              <a:t>Desafío:</a:t>
            </a:r>
            <a:endParaRPr/>
          </a:p>
          <a:p>
            <a:pPr>
              <a:defRPr/>
            </a:pPr>
            <a:r>
              <a:rPr lang="es-ES" sz="2400">
                <a:latin typeface="ADLaM Display"/>
                <a:ea typeface="ADLaM Display"/>
                <a:cs typeface="ADLaM Display"/>
              </a:rPr>
              <a:t>Tengo una lista de enlace doble y de tipo circular que almacena números.</a:t>
            </a:r>
            <a:endParaRPr/>
          </a:p>
          <a:p>
            <a:pPr>
              <a:defRPr/>
            </a:pPr>
            <a:endParaRPr lang="es-ES" sz="2400">
              <a:latin typeface="ADLaM Display"/>
              <a:ea typeface="ADLaM Display"/>
              <a:cs typeface="ADLaM Display"/>
            </a:endParaRPr>
          </a:p>
          <a:p>
            <a:pPr>
              <a:defRPr/>
            </a:pPr>
            <a:r>
              <a:rPr lang="es-ES" sz="2400">
                <a:latin typeface="ADLaM Display"/>
                <a:ea typeface="ADLaM Display"/>
                <a:cs typeface="ADLaM Display"/>
              </a:rPr>
              <a:t>Crear una función que pueda detectar si una lista es palíndroma (true o false).</a:t>
            </a:r>
            <a:endParaRPr/>
          </a:p>
        </p:txBody>
      </p:sp>
      <p:sp>
        <p:nvSpPr>
          <p:cNvPr id="1920935139" name="Título 1"/>
          <p:cNvSpPr txBox="1"/>
          <p:nvPr/>
        </p:nvSpPr>
        <p:spPr bwMode="auto">
          <a:xfrm>
            <a:off x="269631" y="-329413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2 </a:t>
            </a:r>
            <a:endParaRPr lang="es-US"/>
          </a:p>
        </p:txBody>
      </p:sp>
      <p:pic>
        <p:nvPicPr>
          <p:cNvPr id="652306550" name="Imagen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44950" y="434909"/>
            <a:ext cx="3457768" cy="3144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3677901" name="Picture 3" descr="LENGUAJE DE PROGRAMACION III : Estructura Dinámicas pilas, colas, y listas."/>
          <p:cNvPicPr/>
          <p:nvPr/>
        </p:nvPicPr>
        <p:blipFill rotWithShape="1">
          <a:blip r:embed="rId3"/>
          <a:stretch/>
        </p:blipFill>
        <p:spPr bwMode="auto">
          <a:xfrm>
            <a:off x="1473236" y="2184354"/>
            <a:ext cx="4408177" cy="4129147"/>
          </a:xfrm>
          <a:prstGeom prst="rect">
            <a:avLst/>
          </a:prstGeom>
          <a:ln w="0">
            <a:noFill/>
          </a:ln>
        </p:spPr>
      </p:pic>
      <p:sp>
        <p:nvSpPr>
          <p:cNvPr id="784025825" name="CuadroTexto 3"/>
          <p:cNvSpPr txBox="1"/>
          <p:nvPr/>
        </p:nvSpPr>
        <p:spPr bwMode="auto">
          <a:xfrm>
            <a:off x="6429640" y="1390290"/>
            <a:ext cx="5220260" cy="1588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3680">
              <a:lnSpc>
                <a:spcPct val="90000"/>
              </a:lnSpc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Funciones</a:t>
            </a:r>
            <a:endParaRPr lang="es-CL" sz="1800" b="0" strike="noStrike" spc="-1">
              <a:solidFill>
                <a:schemeClr val="bg1"/>
              </a:solidFill>
              <a:latin typeface="Times New Roman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Push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Insertar nodo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Pop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Elimina un nodo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Top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Retoma el nodo del tope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Empty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True si pila esta vacía</a:t>
            </a:r>
            <a:endParaRPr/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Size</a:t>
            </a:r>
            <a:r>
              <a:rPr lang="es-MX" spc="-1">
                <a:solidFill>
                  <a:schemeClr val="bg1"/>
                </a:solidFill>
                <a:latin typeface="Roboto Slab"/>
                <a:ea typeface="Roboto Slab"/>
              </a:rPr>
              <a:t>: tamaño de la pila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682571159" name="Título 1"/>
          <p:cNvSpPr txBox="1"/>
          <p:nvPr/>
        </p:nvSpPr>
        <p:spPr bwMode="auto">
          <a:xfrm>
            <a:off x="5754624" y="70127"/>
            <a:ext cx="8414657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>
                <a:solidFill>
                  <a:srgbClr val="B0EBDF"/>
                </a:solidFill>
              </a:rPr>
              <a:t>Pila (stack, lifo)</a:t>
            </a:r>
            <a:endParaRPr lang="es-US">
              <a:solidFill>
                <a:srgbClr val="B0EBD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93105" name="Título 1"/>
          <p:cNvSpPr txBox="1"/>
          <p:nvPr/>
        </p:nvSpPr>
        <p:spPr bwMode="auto">
          <a:xfrm>
            <a:off x="4629912" y="0"/>
            <a:ext cx="8414657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 sz="5400">
                <a:solidFill>
                  <a:srgbClr val="B0EBDF"/>
                </a:solidFill>
              </a:rPr>
              <a:t>Cola (</a:t>
            </a:r>
            <a:r>
              <a:rPr lang="es-ES" sz="5400">
                <a:solidFill>
                  <a:srgbClr val="B0EBDF"/>
                </a:solidFill>
              </a:rPr>
              <a:t>queue</a:t>
            </a:r>
            <a:r>
              <a:rPr lang="es-ES" sz="5400">
                <a:solidFill>
                  <a:srgbClr val="B0EBDF"/>
                </a:solidFill>
              </a:rPr>
              <a:t>, fifo)</a:t>
            </a:r>
            <a:endParaRPr lang="es-US" sz="5400">
              <a:solidFill>
                <a:srgbClr val="B0EBDF"/>
              </a:solidFill>
            </a:endParaRPr>
          </a:p>
        </p:txBody>
      </p:sp>
      <p:sp>
        <p:nvSpPr>
          <p:cNvPr id="549983053" name="CuadroTexto 10"/>
          <p:cNvSpPr txBox="1"/>
          <p:nvPr/>
        </p:nvSpPr>
        <p:spPr bwMode="auto">
          <a:xfrm>
            <a:off x="6310589" y="1855989"/>
            <a:ext cx="6523348" cy="183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3680">
              <a:lnSpc>
                <a:spcPct val="90000"/>
              </a:lnSpc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Funciones</a:t>
            </a:r>
            <a:endParaRPr lang="es-CL" sz="1800" b="0" strike="noStrike" spc="-1">
              <a:solidFill>
                <a:schemeClr val="bg1"/>
              </a:solidFill>
              <a:latin typeface="Times New Roman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Push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Insertar nodo al final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Pop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Elimina </a:t>
            </a:r>
            <a:r>
              <a:rPr lang="es-MX" spc="-1">
                <a:solidFill>
                  <a:schemeClr val="bg1"/>
                </a:solidFill>
                <a:latin typeface="Roboto Slab"/>
                <a:ea typeface="Roboto Slab"/>
              </a:rPr>
              <a:t>el primer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 nodo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front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Retoma el </a:t>
            </a:r>
            <a:r>
              <a:rPr lang="es-ES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primer nodo</a:t>
            </a:r>
            <a:endParaRPr/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ES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Back</a:t>
            </a:r>
            <a:r>
              <a:rPr lang="es-ES" spc="-1">
                <a:solidFill>
                  <a:schemeClr val="bg1"/>
                </a:solidFill>
                <a:latin typeface="Roboto Slab"/>
                <a:ea typeface="Roboto Slab"/>
              </a:rPr>
              <a:t>: Retorna el ultimo nodo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Empty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True si la cola está vacía</a:t>
            </a:r>
            <a:endParaRPr/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Size</a:t>
            </a:r>
            <a:r>
              <a:rPr lang="es-MX" spc="-1">
                <a:solidFill>
                  <a:schemeClr val="bg1"/>
                </a:solidFill>
                <a:latin typeface="Roboto Slab"/>
                <a:ea typeface="Roboto Slab"/>
              </a:rPr>
              <a:t>: tamaño de la cola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</p:txBody>
      </p:sp>
      <p:pic>
        <p:nvPicPr>
          <p:cNvPr id="2019257561" name="Picture 4" descr="Colas en C++"/>
          <p:cNvPicPr/>
          <p:nvPr/>
        </p:nvPicPr>
        <p:blipFill rotWithShape="1">
          <a:blip r:embed="rId3"/>
          <a:stretch/>
        </p:blipFill>
        <p:spPr bwMode="auto">
          <a:xfrm>
            <a:off x="825515" y="3122554"/>
            <a:ext cx="4863176" cy="2316711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381878" name="Título 1"/>
          <p:cNvSpPr>
            <a:spLocks noGrp="1"/>
          </p:cNvSpPr>
          <p:nvPr>
            <p:ph type="title"/>
          </p:nvPr>
        </p:nvSpPr>
        <p:spPr bwMode="auto">
          <a:xfrm>
            <a:off x="7582077" y="-378596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Pilas (</a:t>
            </a:r>
            <a:r>
              <a:rPr lang="es-ES"/>
              <a:t>stack</a:t>
            </a:r>
            <a:r>
              <a:rPr lang="es-ES"/>
              <a:t>, </a:t>
            </a:r>
            <a:r>
              <a:rPr lang="es-ES"/>
              <a:t>lifo</a:t>
            </a:r>
            <a:r>
              <a:rPr lang="es-ES"/>
              <a:t>)</a:t>
            </a:r>
            <a:endParaRPr lang="es-US"/>
          </a:p>
        </p:txBody>
      </p:sp>
      <p:sp>
        <p:nvSpPr>
          <p:cNvPr id="1190178289" name="Título 1"/>
          <p:cNvSpPr txBox="1"/>
          <p:nvPr/>
        </p:nvSpPr>
        <p:spPr bwMode="auto">
          <a:xfrm>
            <a:off x="280022" y="-523730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1 </a:t>
            </a:r>
            <a:endParaRPr lang="es-US"/>
          </a:p>
        </p:txBody>
      </p:sp>
      <p:sp>
        <p:nvSpPr>
          <p:cNvPr id="1342606423" name="CuadroTexto 5"/>
          <p:cNvSpPr txBox="1"/>
          <p:nvPr/>
        </p:nvSpPr>
        <p:spPr bwMode="auto">
          <a:xfrm>
            <a:off x="534970" y="2613483"/>
            <a:ext cx="112768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>
                <a:latin typeface="+mj-lt"/>
              </a:rPr>
              <a:t>Implementa un programa en C++ que invierta una cadena de texto utilizando una pila. El objetivo es demostrar cómo las pilas se pueden utilizar para revertir el orden de elementos.</a:t>
            </a:r>
            <a:b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endParaRPr lang="es-ES" b="0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Ejemplo:</a:t>
            </a:r>
            <a:endParaRPr/>
          </a:p>
          <a:p>
            <a:pPr>
              <a:defRPr/>
            </a:pPr>
            <a:endParaRPr lang="es-ES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Entrada: HOLA MUNDO</a:t>
            </a:r>
            <a:endParaRPr/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Salida: ODNUM ALOH</a:t>
            </a:r>
            <a:endParaRPr/>
          </a:p>
        </p:txBody>
      </p:sp>
      <p:sp>
        <p:nvSpPr>
          <p:cNvPr id="1478381236" name="CuadroTexto 6"/>
          <p:cNvSpPr txBox="1"/>
          <p:nvPr/>
        </p:nvSpPr>
        <p:spPr bwMode="auto">
          <a:xfrm>
            <a:off x="432917" y="1987009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sz="2000" b="1"/>
              <a:t>Invertir una Cadena utilizando Pilas</a:t>
            </a:r>
            <a:endParaRPr lang="es-US" sz="20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703425" name="Título 1"/>
          <p:cNvSpPr>
            <a:spLocks noGrp="1"/>
          </p:cNvSpPr>
          <p:nvPr>
            <p:ph type="title"/>
          </p:nvPr>
        </p:nvSpPr>
        <p:spPr bwMode="auto">
          <a:xfrm>
            <a:off x="7582077" y="-378596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Pilas (</a:t>
            </a:r>
            <a:r>
              <a:rPr lang="es-ES"/>
              <a:t>stack</a:t>
            </a:r>
            <a:r>
              <a:rPr lang="es-ES"/>
              <a:t>, </a:t>
            </a:r>
            <a:r>
              <a:rPr lang="es-ES"/>
              <a:t>lifo</a:t>
            </a:r>
            <a:r>
              <a:rPr lang="es-ES"/>
              <a:t>)</a:t>
            </a:r>
            <a:endParaRPr lang="es-US"/>
          </a:p>
        </p:txBody>
      </p:sp>
      <p:sp>
        <p:nvSpPr>
          <p:cNvPr id="1189555699" name="Título 1"/>
          <p:cNvSpPr txBox="1"/>
          <p:nvPr/>
        </p:nvSpPr>
        <p:spPr bwMode="auto">
          <a:xfrm>
            <a:off x="269631" y="-329413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1 </a:t>
            </a:r>
            <a:endParaRPr lang="es-US"/>
          </a:p>
        </p:txBody>
      </p:sp>
      <p:sp>
        <p:nvSpPr>
          <p:cNvPr id="629230782" name="CuadroTexto 3"/>
          <p:cNvSpPr txBox="1"/>
          <p:nvPr/>
        </p:nvSpPr>
        <p:spPr bwMode="auto">
          <a:xfrm>
            <a:off x="760861" y="1178079"/>
            <a:ext cx="7212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sz="2000" b="1">
                <a:latin typeface="+mj-lt"/>
              </a:rPr>
              <a:t>Verificación de Expresiones Matemáticas Balanceadas</a:t>
            </a:r>
            <a:endParaRPr lang="es-US" sz="2000" b="1">
              <a:latin typeface="+mj-lt"/>
            </a:endParaRPr>
          </a:p>
        </p:txBody>
      </p:sp>
      <p:sp>
        <p:nvSpPr>
          <p:cNvPr id="218321756" name="CuadroTexto 4"/>
          <p:cNvSpPr txBox="1"/>
          <p:nvPr/>
        </p:nvSpPr>
        <p:spPr bwMode="auto">
          <a:xfrm>
            <a:off x="534970" y="2613483"/>
            <a:ext cx="112768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Debes implementar un programa que verifique si los paréntesis en una expresión matemática están balanceados. Una expresión está balanceada si:</a:t>
            </a:r>
            <a:endParaRPr/>
          </a:p>
          <a:p>
            <a:pPr>
              <a:defRPr/>
            </a:pPr>
            <a:b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Cada paréntesis abierto ( tiene un paréntesis de cierre correspondiente ).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Los paréntesis están correctamente anidados.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Por ejemplo:</a:t>
            </a:r>
            <a:endParaRPr/>
          </a:p>
          <a:p>
            <a:pPr>
              <a:defRPr/>
            </a:pPr>
            <a:b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Expresión válida: (a + b) * (c + d)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Expresión inválida: ((a + b) * (c + d) → No hay paréntesis que cierre correctamente.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Expresión inválida: (a + b)) → Un paréntesis extra de cierre.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473288" name="Título 1"/>
          <p:cNvSpPr>
            <a:spLocks noGrp="1"/>
          </p:cNvSpPr>
          <p:nvPr>
            <p:ph type="title"/>
          </p:nvPr>
        </p:nvSpPr>
        <p:spPr bwMode="auto">
          <a:xfrm>
            <a:off x="7582077" y="-378596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Pilas (</a:t>
            </a:r>
            <a:r>
              <a:rPr lang="es-ES"/>
              <a:t>stack</a:t>
            </a:r>
            <a:r>
              <a:rPr lang="es-ES"/>
              <a:t>, </a:t>
            </a:r>
            <a:r>
              <a:rPr lang="es-ES"/>
              <a:t>lifo</a:t>
            </a:r>
            <a:r>
              <a:rPr lang="es-ES"/>
              <a:t>)</a:t>
            </a:r>
            <a:endParaRPr lang="es-US"/>
          </a:p>
        </p:txBody>
      </p:sp>
      <p:sp>
        <p:nvSpPr>
          <p:cNvPr id="585976076" name="Título 1"/>
          <p:cNvSpPr txBox="1"/>
          <p:nvPr/>
        </p:nvSpPr>
        <p:spPr bwMode="auto">
          <a:xfrm>
            <a:off x="269631" y="-329413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1 </a:t>
            </a:r>
            <a:endParaRPr lang="es-US"/>
          </a:p>
        </p:txBody>
      </p:sp>
      <p:sp>
        <p:nvSpPr>
          <p:cNvPr id="1967496059" name="CuadroTexto 3"/>
          <p:cNvSpPr txBox="1"/>
          <p:nvPr/>
        </p:nvSpPr>
        <p:spPr bwMode="auto">
          <a:xfrm>
            <a:off x="760861" y="1178079"/>
            <a:ext cx="7212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sz="2000" b="1">
                <a:latin typeface="+mj-lt"/>
              </a:rPr>
              <a:t>Verificación de </a:t>
            </a:r>
            <a:r>
              <a:rPr lang="es-ES" sz="2000" b="1">
                <a:latin typeface="+mj-lt"/>
              </a:rPr>
              <a:t>string</a:t>
            </a:r>
            <a:r>
              <a:rPr lang="es-ES" sz="2000" b="1">
                <a:latin typeface="+mj-lt"/>
              </a:rPr>
              <a:t> </a:t>
            </a:r>
            <a:r>
              <a:rPr lang="es-ES" sz="2000" b="1">
                <a:latin typeface="+mj-lt"/>
              </a:rPr>
              <a:t>palindromo</a:t>
            </a:r>
            <a:endParaRPr lang="es-US" sz="2000" b="1">
              <a:latin typeface="+mj-lt"/>
            </a:endParaRPr>
          </a:p>
        </p:txBody>
      </p:sp>
      <p:sp>
        <p:nvSpPr>
          <p:cNvPr id="1437200035" name="CuadroTexto 4"/>
          <p:cNvSpPr txBox="1"/>
          <p:nvPr/>
        </p:nvSpPr>
        <p:spPr bwMode="auto">
          <a:xfrm>
            <a:off x="534970" y="2613483"/>
            <a:ext cx="1127681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Debes implementar un programa que verifique si </a:t>
            </a: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un </a:t>
            </a: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string</a:t>
            </a: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 es un palíndromo, un palíndromo es</a:t>
            </a: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:</a:t>
            </a:r>
            <a:endParaRPr/>
          </a:p>
          <a:p>
            <a:pPr>
              <a:defRPr/>
            </a:pPr>
            <a:b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r>
              <a:rPr lang="es-ES">
                <a:latin typeface="+mj-lt"/>
              </a:rPr>
              <a:t>palabra, número, frase o cualquier secuencia de caracteres que se lee igual de izquierda a derecha que de derecha a izquierda.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Por ejemplo:</a:t>
            </a:r>
            <a:endParaRPr/>
          </a:p>
          <a:p>
            <a:pPr>
              <a:defRPr/>
            </a:pPr>
            <a:b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P</a:t>
            </a: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alabra válida: “</a:t>
            </a:r>
            <a:r>
              <a:rPr lang="es-US">
                <a:latin typeface="+mj-lt"/>
              </a:rPr>
              <a:t>radar” </a:t>
            </a:r>
            <a:endParaRPr/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P</a:t>
            </a: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alabra válida : “12321”</a:t>
            </a:r>
            <a:endParaRPr/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P</a:t>
            </a: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alabra inválida: “</a:t>
            </a:r>
            <a:r>
              <a:rPr lang="es-US">
                <a:latin typeface="+mj-lt"/>
              </a:rPr>
              <a:t>perro”</a:t>
            </a:r>
            <a:endParaRPr/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P</a:t>
            </a: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alabra inválida: “12322”</a:t>
            </a:r>
            <a:endParaRPr/>
          </a:p>
          <a:p>
            <a:pPr>
              <a:defRPr/>
            </a:pPr>
            <a:endParaRPr lang="es-ES" b="0">
              <a:solidFill>
                <a:schemeClr val="tx2">
                  <a:lumMod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Arial"/>
        <a:cs typeface="Arial"/>
      </a:majorFont>
      <a:minorFont>
        <a:latin typeface="Avenir Next LT Pro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nuñez</dc:creator>
  <cp:lastModifiedBy/>
  <cp:revision>35</cp:revision>
  <dcterms:created xsi:type="dcterms:W3CDTF">2024-08-26T19:39:28Z</dcterms:created>
  <dcterms:modified xsi:type="dcterms:W3CDTF">2026-06-10T03:37:31Z</dcterms:modified>
</cp:coreProperties>
</file>