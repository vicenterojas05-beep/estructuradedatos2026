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s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4" d="100"/>
          <a:sy n="94" d="100"/>
        </p:scale>
        <p:origin x="1194" y="8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6862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1854735768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727B22-D443-49C1-9EFF-D902DE12A18D}" type="datetimeFigureOut">
              <a:rPr lang="es-US"/>
              <a:t>9/22/2025</a:t>
            </a:fld>
            <a:endParaRPr lang="es-US"/>
          </a:p>
        </p:txBody>
      </p:sp>
      <p:sp>
        <p:nvSpPr>
          <p:cNvPr id="775156545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US"/>
          </a:p>
        </p:txBody>
      </p:sp>
      <p:sp>
        <p:nvSpPr>
          <p:cNvPr id="1700315584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US"/>
          </a:p>
        </p:txBody>
      </p:sp>
      <p:sp>
        <p:nvSpPr>
          <p:cNvPr id="158678925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US"/>
          </a:p>
        </p:txBody>
      </p:sp>
      <p:sp>
        <p:nvSpPr>
          <p:cNvPr id="663575519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72C4E90-3289-46AF-96A6-2DBF2E2B91DB}" type="slidenum">
              <a:rPr lang="es-US"/>
              <a:t>‹Nº›</a:t>
            </a:fld>
            <a:endParaRPr lang="es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9AD3B-D383-64D4-F97B-D6D6E83E0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0F6E24-B47B-C67D-16A2-16BB81A07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AF54DD-3952-8D1C-9DAE-D514D5ACC5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287174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710800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B::q</a:t>
            </a:r>
            <a:endParaRPr/>
          </a:p>
          <a:p>
            <a:pPr>
              <a:defRPr/>
            </a:pPr>
            <a:endParaRPr lang="pt-BR"/>
          </a:p>
          <a:p>
            <a:pPr>
              <a:defRPr/>
            </a:pPr>
            <a:r>
              <a:rPr lang="pt-BR"/>
              <a:t>A::p</a:t>
            </a:r>
            <a:endParaRPr/>
          </a:p>
          <a:p>
            <a:pPr>
              <a:defRPr/>
            </a:pPr>
            <a:r>
              <a:rPr lang="pt-BR"/>
              <a:t>A::q</a:t>
            </a:r>
            <a:endParaRPr/>
          </a:p>
          <a:p>
            <a:pPr>
              <a:defRPr/>
            </a:pPr>
            <a:endParaRPr lang="pt-BR"/>
          </a:p>
        </p:txBody>
      </p:sp>
      <p:sp>
        <p:nvSpPr>
          <p:cNvPr id="133658559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4</a:t>
            </a:fld>
            <a:endParaRPr lang="es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941774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13999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1.  0</a:t>
            </a:r>
            <a:endParaRPr/>
          </a:p>
          <a:p>
            <a:pPr>
              <a:defRPr/>
            </a:pPr>
            <a:r>
              <a:rPr lang="es-ES"/>
              <a:t>2.  1 =no se puede asignar </a:t>
            </a:r>
            <a:r>
              <a:rPr lang="es-ES"/>
              <a:t>int</a:t>
            </a:r>
            <a:r>
              <a:rPr lang="es-ES"/>
              <a:t> a un puntero</a:t>
            </a:r>
            <a:endParaRPr/>
          </a:p>
          <a:p>
            <a:pPr>
              <a:defRPr/>
            </a:pPr>
            <a:r>
              <a:rPr lang="es-ES"/>
              <a:t>3.  0</a:t>
            </a:r>
            <a:endParaRPr/>
          </a:p>
          <a:p>
            <a:pPr>
              <a:defRPr/>
            </a:pPr>
            <a:r>
              <a:rPr lang="es-ES"/>
              <a:t>4.  0</a:t>
            </a:r>
            <a:endParaRPr/>
          </a:p>
          <a:p>
            <a:pPr>
              <a:defRPr/>
            </a:pPr>
            <a:r>
              <a:rPr lang="es-ES"/>
              <a:t>5.  1 = la variable s no es un puntero</a:t>
            </a:r>
            <a:endParaRPr/>
          </a:p>
          <a:p>
            <a:pPr>
              <a:defRPr/>
            </a:pPr>
            <a:r>
              <a:rPr lang="es-ES"/>
              <a:t>6.  1 = solo se puede </a:t>
            </a:r>
            <a:r>
              <a:rPr lang="es-ES"/>
              <a:t>delete</a:t>
            </a:r>
            <a:r>
              <a:rPr lang="es-ES"/>
              <a:t> a las instancias NEW</a:t>
            </a:r>
            <a:endParaRPr/>
          </a:p>
          <a:p>
            <a:pPr>
              <a:defRPr/>
            </a:pPr>
            <a:r>
              <a:rPr lang="es-ES"/>
              <a:t>7.  0</a:t>
            </a:r>
            <a:endParaRPr/>
          </a:p>
          <a:p>
            <a:pPr>
              <a:defRPr/>
            </a:pPr>
            <a:r>
              <a:rPr lang="es-ES"/>
              <a:t>8.  0</a:t>
            </a:r>
            <a:endParaRPr/>
          </a:p>
          <a:p>
            <a:pPr>
              <a:defRPr/>
            </a:pPr>
            <a:r>
              <a:rPr lang="es-ES"/>
              <a:t>9.  1 =el vector no tiene el índice 10</a:t>
            </a:r>
            <a:endParaRPr/>
          </a:p>
          <a:p>
            <a:pPr>
              <a:defRPr/>
            </a:pPr>
            <a:r>
              <a:rPr lang="es-ES"/>
              <a:t>10.0</a:t>
            </a:r>
            <a:endParaRPr/>
          </a:p>
          <a:p>
            <a:pPr>
              <a:defRPr/>
            </a:pPr>
            <a:r>
              <a:rPr lang="es-ES"/>
              <a:t>11.0</a:t>
            </a:r>
            <a:endParaRPr/>
          </a:p>
          <a:p>
            <a:pPr>
              <a:defRPr/>
            </a:pPr>
            <a:r>
              <a:rPr lang="es-ES"/>
              <a:t>12.0</a:t>
            </a:r>
            <a:endParaRPr/>
          </a:p>
          <a:p>
            <a:pPr>
              <a:defRPr/>
            </a:pPr>
            <a:r>
              <a:rPr lang="es-ES"/>
              <a:t>13.0</a:t>
            </a:r>
            <a:endParaRPr/>
          </a:p>
          <a:p>
            <a:pPr>
              <a:defRPr/>
            </a:pPr>
            <a:r>
              <a:rPr lang="es-ES"/>
              <a:t>14.0</a:t>
            </a:r>
            <a:endParaRPr/>
          </a:p>
          <a:p>
            <a:pPr>
              <a:defRPr/>
            </a:pPr>
            <a:r>
              <a:rPr lang="es-ES"/>
              <a:t>15.0</a:t>
            </a:r>
            <a:endParaRPr/>
          </a:p>
          <a:p>
            <a:pPr>
              <a:defRPr/>
            </a:pPr>
            <a:endParaRPr lang="es-ES"/>
          </a:p>
        </p:txBody>
      </p:sp>
      <p:sp>
        <p:nvSpPr>
          <p:cNvPr id="24923786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5</a:t>
            </a:fld>
            <a:endParaRPr lang="es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322990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446215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19</a:t>
            </a:r>
            <a:endParaRPr/>
          </a:p>
          <a:p>
            <a:pPr>
              <a:defRPr/>
            </a:pPr>
            <a:endParaRPr lang="es-ES"/>
          </a:p>
          <a:p>
            <a:pPr>
              <a:defRPr/>
            </a:pPr>
            <a:endParaRPr lang="es-US"/>
          </a:p>
        </p:txBody>
      </p:sp>
      <p:sp>
        <p:nvSpPr>
          <p:cNvPr id="659898621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6</a:t>
            </a:fld>
            <a:endParaRPr lang="es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236826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4552279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0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5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9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8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18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3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11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C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  <a:p>
            <a:pPr>
              <a:defRPr/>
            </a:pPr>
            <a:endParaRPr lang="es-US"/>
          </a:p>
          <a:p>
            <a:pPr>
              <a:defRPr/>
            </a:pPr>
            <a:r>
              <a:rPr lang="es-US"/>
              <a:t>27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B</a:t>
            </a:r>
            <a:endParaRPr/>
          </a:p>
          <a:p>
            <a:pPr>
              <a:defRPr/>
            </a:pPr>
            <a:r>
              <a:rPr lang="es-US"/>
              <a:t>Se </a:t>
            </a:r>
            <a:r>
              <a:rPr lang="es-US"/>
              <a:t>detruye</a:t>
            </a:r>
            <a:r>
              <a:rPr lang="es-US"/>
              <a:t> A</a:t>
            </a:r>
            <a:endParaRPr/>
          </a:p>
        </p:txBody>
      </p:sp>
      <p:sp>
        <p:nvSpPr>
          <p:cNvPr id="558961821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7</a:t>
            </a:fld>
            <a:endParaRPr lang="es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C9E5E6-4CF9-EB98-044C-AEF7DB0E3D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46588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102934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cmath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next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dato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dato;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double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limit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sqrt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for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limit;i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++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%</a:t>
            </a:r>
            <a:r>
              <a:rPr lang="es-US" b="0">
                <a:solidFill>
                  <a:srgbClr val="FFFFFF"/>
                </a:solidFill>
                <a:latin typeface="Consolas"/>
              </a:rPr>
              <a:t>i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EliminarPrimos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    //si la lista es nula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    //si el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unico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 elemento es primo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isPrimo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prev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prev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prev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getDato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temp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temp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getNext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4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5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EliminarPrimos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406760127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9</a:t>
            </a:fld>
            <a:endParaRPr lang="es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07311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0270086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33687822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11</a:t>
            </a:fld>
            <a:endParaRPr lang="es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9DCCD-358E-A537-8F42-FF0158CE6A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16408D-D4EE-9707-C72D-B0B3C02848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864087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6502066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172311720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14</a:t>
            </a:fld>
            <a:endParaRPr lang="es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004701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039087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44727079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15</a:t>
            </a:fld>
            <a:endParaRPr lang="es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127098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465757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#include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98C379"/>
                </a:solidFill>
                <a:latin typeface="Consolas"/>
              </a:rPr>
              <a:t>&lt;iostream&gt;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using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namespace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std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 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class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private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public</a:t>
            </a:r>
            <a:r>
              <a:rPr lang="es-US" b="0">
                <a:solidFill>
                  <a:srgbClr val="C678DD"/>
                </a:solidFill>
                <a:latin typeface="Consolas"/>
              </a:rPr>
              <a:t>: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siguiente;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siguiente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anterior;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void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ABB2BF"/>
                </a:solidFill>
                <a:latin typeface="Consolas"/>
              </a:rPr>
              <a:t>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this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anterior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s;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 i="1">
                <a:solidFill>
                  <a:srgbClr val="5C6370"/>
                </a:solidFill>
                <a:latin typeface="Consolas"/>
              </a:rPr>
              <a:t>//Mostrar lista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"-&gt;"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98C379"/>
                </a:solidFill>
                <a:latin typeface="Consolas"/>
              </a:rPr>
              <a:t>null</a:t>
            </a:r>
            <a:r>
              <a:rPr lang="es-US" b="0">
                <a:solidFill>
                  <a:srgbClr val="98C379"/>
                </a:solidFill>
                <a:latin typeface="Consolas"/>
              </a:rPr>
              <a:t>"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//Insertar Nodo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, 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nuevo;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and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nuevo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aux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setAnterior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(nuevo);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 i="1">
                <a:solidFill>
                  <a:srgbClr val="5C6370"/>
                </a:solidFill>
                <a:latin typeface="Consolas"/>
              </a:rPr>
              <a:t>//verifica si es </a:t>
            </a:r>
            <a:r>
              <a:rPr lang="es-US" b="0" i="1">
                <a:solidFill>
                  <a:srgbClr val="5C6370"/>
                </a:solidFill>
                <a:latin typeface="Consolas"/>
              </a:rPr>
              <a:t>palindromo</a:t>
            </a:r>
            <a:endParaRPr lang="es-US" b="0">
              <a:solidFill>
                <a:srgbClr val="FFFFFF"/>
              </a:solidFill>
              <a:latin typeface="Consolas"/>
            </a:endParaRPr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C678DD"/>
                </a:solidFill>
                <a:latin typeface="Consolas"/>
              </a:rPr>
              <a:t>bool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5C07B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ABB2BF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head;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E06C75"/>
                </a:solidFill>
                <a:latin typeface="Consolas"/>
              </a:rPr>
              <a:t>head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while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!=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retrocede){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if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avanza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avanza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getSiguiente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retrocede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E06C75"/>
                </a:solidFill>
                <a:latin typeface="Consolas"/>
              </a:rPr>
              <a:t>retrocede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-&gt;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getAnterior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r>
              <a:rPr lang="es-US" b="0">
                <a:solidFill>
                  <a:srgbClr val="C678DD"/>
                </a:solidFill>
                <a:latin typeface="Consolas"/>
              </a:rPr>
              <a:t>else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false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true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C678DD"/>
                </a:solidFill>
                <a:latin typeface="Consolas"/>
              </a:rPr>
              <a:t>int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main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(){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br>
              <a:rPr lang="es-US" b="0">
                <a:solidFill>
                  <a:srgbClr val="FFFFFF"/>
                </a:solidFill>
                <a:latin typeface="Consolas"/>
              </a:rPr>
            </a:br>
            <a:r>
              <a:rPr lang="es-US" b="0">
                <a:solidFill>
                  <a:srgbClr val="FFFFFF"/>
                </a:solidFill>
                <a:latin typeface="Consolas"/>
              </a:rPr>
              <a:t>    Nodo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*</a:t>
            </a:r>
            <a:r>
              <a:rPr lang="es-US" b="0">
                <a:solidFill>
                  <a:srgbClr val="FFFFFF"/>
                </a:solidFill>
                <a:latin typeface="Consolas"/>
              </a:rPr>
              <a:t>head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nullptr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1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3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InsertarNodo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(head,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new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Nodo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</a:t>
            </a:r>
            <a:r>
              <a:rPr lang="es-US" b="0">
                <a:solidFill>
                  <a:srgbClr val="D19A66"/>
                </a:solidFill>
                <a:latin typeface="Consolas"/>
              </a:rPr>
              <a:t>2</a:t>
            </a:r>
            <a:r>
              <a:rPr lang="es-US" b="0">
                <a:solidFill>
                  <a:srgbClr val="FFFFFF"/>
                </a:solidFill>
                <a:latin typeface="Consolas"/>
              </a:rPr>
              <a:t>));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head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=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61AFEF"/>
                </a:solidFill>
                <a:latin typeface="Consolas"/>
              </a:rPr>
              <a:t>MostrarLista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FFFFFF"/>
                </a:solidFill>
                <a:latin typeface="Consolas"/>
              </a:rPr>
              <a:t>cout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61AFEF"/>
                </a:solidFill>
                <a:latin typeface="Consolas"/>
              </a:rPr>
              <a:t>isPalindromo</a:t>
            </a:r>
            <a:r>
              <a:rPr lang="es-US" b="0">
                <a:solidFill>
                  <a:srgbClr val="FFFFFF"/>
                </a:solidFill>
                <a:latin typeface="Consolas"/>
              </a:rPr>
              <a:t>(head)</a:t>
            </a:r>
            <a:r>
              <a:rPr lang="es-US" b="0">
                <a:solidFill>
                  <a:srgbClr val="C678DD"/>
                </a:solidFill>
                <a:latin typeface="Consolas"/>
              </a:rPr>
              <a:t>&lt;&lt;</a:t>
            </a:r>
            <a:r>
              <a:rPr lang="es-US" b="0">
                <a:solidFill>
                  <a:srgbClr val="FFFFFF"/>
                </a:solidFill>
                <a:latin typeface="Consolas"/>
              </a:rPr>
              <a:t>endl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buNone/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    </a:t>
            </a:r>
            <a:r>
              <a:rPr lang="es-US" b="0">
                <a:solidFill>
                  <a:srgbClr val="C678DD"/>
                </a:solidFill>
                <a:latin typeface="Consolas"/>
              </a:rPr>
              <a:t>return</a:t>
            </a:r>
            <a:r>
              <a:rPr lang="es-US" b="0">
                <a:solidFill>
                  <a:srgbClr val="FFFFFF"/>
                </a:solidFill>
                <a:latin typeface="Consolas"/>
              </a:rPr>
              <a:t> </a:t>
            </a:r>
            <a:r>
              <a:rPr lang="es-US" b="0">
                <a:solidFill>
                  <a:srgbClr val="D19A66"/>
                </a:solidFill>
                <a:latin typeface="Consolas"/>
              </a:rPr>
              <a:t>0</a:t>
            </a:r>
            <a:r>
              <a:rPr lang="es-US" b="0">
                <a:solidFill>
                  <a:srgbClr val="FFFFFF"/>
                </a:solidFill>
                <a:latin typeface="Consolas"/>
              </a:rPr>
              <a:t>;</a:t>
            </a:r>
            <a:endParaRPr/>
          </a:p>
          <a:p>
            <a:pPr>
              <a:lnSpc>
                <a:spcPts val="1425"/>
              </a:lnSpc>
              <a:defRPr/>
            </a:pPr>
            <a:r>
              <a:rPr lang="es-US" b="0">
                <a:solidFill>
                  <a:srgbClr val="FFFFFF"/>
                </a:solidFill>
                <a:latin typeface="Consolas"/>
              </a:rPr>
              <a:t>}</a:t>
            </a:r>
            <a:endParaRPr/>
          </a:p>
          <a:p>
            <a:pPr>
              <a:defRPr/>
            </a:pPr>
            <a:endParaRPr lang="es-US"/>
          </a:p>
        </p:txBody>
      </p:sp>
      <p:sp>
        <p:nvSpPr>
          <p:cNvPr id="164211108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2C4E90-3289-46AF-96A6-2DBF2E2B91DB}" type="slidenum">
              <a:rPr lang="es-US"/>
              <a:t>16</a:t>
            </a:fld>
            <a:endParaRPr lang="es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883724" name="Title 1"/>
          <p:cNvSpPr>
            <a:spLocks noGrp="1"/>
          </p:cNvSpPr>
          <p:nvPr>
            <p:ph type="ctrTitle"/>
          </p:nvPr>
        </p:nvSpPr>
        <p:spPr bwMode="auto"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962626" name="Subtitle 2"/>
          <p:cNvSpPr>
            <a:spLocks noGrp="1"/>
          </p:cNvSpPr>
          <p:nvPr>
            <p:ph type="subTitle" idx="1"/>
          </p:nvPr>
        </p:nvSpPr>
        <p:spPr bwMode="auto"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733900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9C5A860-F335-4252-AA00-24FB67ED2982}" type="datetime1">
              <a:rPr lang="en-US"/>
              <a:t>9/22/2025</a:t>
            </a:fld>
            <a:endParaRPr lang="en-US"/>
          </a:p>
        </p:txBody>
      </p:sp>
      <p:sp>
        <p:nvSpPr>
          <p:cNvPr id="857065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69060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9816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10113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12269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4BC802-30E3-4658-9CCA-F873646FEC67}" type="datetime1">
              <a:rPr lang="en-US"/>
              <a:t>9/22/2025</a:t>
            </a:fld>
            <a:endParaRPr lang="en-US"/>
          </a:p>
        </p:txBody>
      </p:sp>
      <p:sp>
        <p:nvSpPr>
          <p:cNvPr id="16036171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25133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87330" name="Title 1"/>
          <p:cNvSpPr>
            <a:spLocks noGrp="1"/>
          </p:cNvSpPr>
          <p:nvPr>
            <p:ph type="title"/>
          </p:nvPr>
        </p:nvSpPr>
        <p:spPr bwMode="auto"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5208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59907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AB227A3-19CE-4153-81CE-64EB7AB094B3}" type="datetime1">
              <a:rPr lang="en-US"/>
              <a:t>9/22/2025</a:t>
            </a:fld>
            <a:endParaRPr lang="en-US"/>
          </a:p>
        </p:txBody>
      </p:sp>
      <p:sp>
        <p:nvSpPr>
          <p:cNvPr id="11966332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90726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19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59845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4548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2" y="2081369"/>
            <a:ext cx="5410200" cy="409559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64921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819A100-10F6-477E-8847-29D479EF1C92}" type="datetime1">
              <a:rPr lang="en-US"/>
              <a:t>9/22/2025</a:t>
            </a:fld>
            <a:endParaRPr lang="en-US"/>
          </a:p>
        </p:txBody>
      </p:sp>
      <p:sp>
        <p:nvSpPr>
          <p:cNvPr id="1893821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762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334943" name="Title 1"/>
          <p:cNvSpPr>
            <a:spLocks noGrp="1"/>
          </p:cNvSpPr>
          <p:nvPr>
            <p:ph type="title"/>
          </p:nvPr>
        </p:nvSpPr>
        <p:spPr bwMode="auto">
          <a:xfrm>
            <a:off x="609600" y="365125"/>
            <a:ext cx="10745788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33978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741283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842211"/>
            <a:ext cx="5387975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16316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92983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67890" y="2842211"/>
            <a:ext cx="5414510" cy="334745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324348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DF128AB-198A-495F-8475-FDB360C9873F}" type="datetime1">
              <a:rPr lang="en-US"/>
              <a:t>9/22/2025</a:t>
            </a:fld>
            <a:endParaRPr lang="en-US"/>
          </a:p>
        </p:txBody>
      </p:sp>
      <p:sp>
        <p:nvSpPr>
          <p:cNvPr id="662117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934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0466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819082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1A235E-F8FD-479F-9FC7-18BE84110877}" type="datetime1">
              <a:rPr lang="en-US"/>
              <a:t>9/22/2025</a:t>
            </a:fld>
            <a:endParaRPr lang="en-US"/>
          </a:p>
        </p:txBody>
      </p:sp>
      <p:sp>
        <p:nvSpPr>
          <p:cNvPr id="9152032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05863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999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90F09B-68DA-462E-9DB4-4C9ADAB8CBCC}" type="datetime1">
              <a:rPr lang="en-US"/>
              <a:t>9/22/2025</a:t>
            </a:fld>
            <a:endParaRPr lang="en-US"/>
          </a:p>
        </p:txBody>
      </p:sp>
      <p:sp>
        <p:nvSpPr>
          <p:cNvPr id="9111731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03196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89924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6758715" name="Content Placeholder 2"/>
          <p:cNvSpPr>
            <a:spLocks noGrp="1"/>
          </p:cNvSpPr>
          <p:nvPr>
            <p:ph idx="1"/>
          </p:nvPr>
        </p:nvSpPr>
        <p:spPr bwMode="auto"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42056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17729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7AC4E36-FABE-47EB-AA7F-C19A93824617}" type="datetime1">
              <a:rPr lang="en-US"/>
              <a:t>9/22/2025</a:t>
            </a:fld>
            <a:endParaRPr lang="en-US"/>
          </a:p>
        </p:txBody>
      </p:sp>
      <p:sp>
        <p:nvSpPr>
          <p:cNvPr id="7753028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75592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623187" name="Title 1"/>
          <p:cNvSpPr>
            <a:spLocks noGrp="1"/>
          </p:cNvSpPr>
          <p:nvPr>
            <p:ph type="title"/>
          </p:nvPr>
        </p:nvSpPr>
        <p:spPr bwMode="auto"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166895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962710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27538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199CE6B-5DE6-4A2D-B72E-5E8969F9F56F}" type="datetime1">
              <a:rPr lang="en-US"/>
              <a:t>9/22/2025</a:t>
            </a:fld>
            <a:endParaRPr lang="en-US"/>
          </a:p>
        </p:txBody>
      </p:sp>
      <p:sp>
        <p:nvSpPr>
          <p:cNvPr id="11072997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96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417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0693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84013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6AB1048-0047-48CA-88BA-D69B470942CF}" type="datetime1">
              <a:rPr lang="en-US"/>
              <a:t>9/22/2025</a:t>
            </a:fld>
            <a:endParaRPr lang="en-US"/>
          </a:p>
        </p:txBody>
      </p:sp>
      <p:sp>
        <p:nvSpPr>
          <p:cNvPr id="139324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8939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47072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557784"/>
            <a:ext cx="2854452" cy="564342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14505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12648" y="557784"/>
            <a:ext cx="7734300" cy="564342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15903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D83879-648C-49A9-81A2-0EF5946532D0}" type="datetime1">
              <a:rPr lang="en-US"/>
              <a:t>9/22/2025</a:t>
            </a:fld>
            <a:endParaRPr lang="en-US"/>
          </a:p>
        </p:txBody>
      </p:sp>
      <p:sp>
        <p:nvSpPr>
          <p:cNvPr id="501785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46021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777055" name="Rectangle 6"/>
          <p:cNvSpPr/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2835549" name="Freeform: Shape 7"/>
          <p:cNvSpPr/>
          <p:nvPr/>
        </p:nvSpPr>
        <p:spPr bwMode="auto"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 fill="norm" stroke="1" extrusionOk="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47469716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3526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50025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F481A142-DA77-4A5F-AD1F-14E6C18F0F5F}" type="datetime1">
              <a:rPr lang="en-US"/>
              <a:t>9/22/2025</a:t>
            </a:fld>
            <a:endParaRPr lang="en-US"/>
          </a:p>
        </p:txBody>
      </p:sp>
      <p:sp>
        <p:nvSpPr>
          <p:cNvPr id="1955060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962015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cap="all" spc="200">
                <a:solidFill>
                  <a:schemeClr val="tx1"/>
                </a:solidFill>
                <a:latin typeface="+mn-lt"/>
                <a:ea typeface="+mn-ea"/>
                <a:cs typeface="Segoe UI Semilight"/>
              </a:defRPr>
            </a:lvl1pPr>
          </a:lstStyle>
          <a:p>
            <a:pPr>
              <a:defRPr/>
            </a:pPr>
            <a:fld id="{1F646F3F-274D-499B-ABBE-824EB4ABDC3D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914400" rtl="0">
        <a:lnSpc>
          <a:spcPct val="10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10000"/>
        </a:lnSpc>
        <a:spcBef>
          <a:spcPts val="1000"/>
        </a:spcBef>
        <a:buClr>
          <a:schemeClr val="accent5"/>
        </a:buClr>
        <a:buFont typeface="Avenir Next LT Pro"/>
        <a:buNone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>
        <a:lnSpc>
          <a:spcPct val="110000"/>
        </a:lnSpc>
        <a:spcBef>
          <a:spcPts val="500"/>
        </a:spcBef>
        <a:buClr>
          <a:schemeClr val="accent5"/>
        </a:buClr>
        <a:buFont typeface="Avenir Next LT Pro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gif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0367230" name="Rectangle 1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985674909" name="Rectangle 1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97910741" name="Imagen 12" descr="Texto&#10;&#10;Descripción generada automáticamente"/>
          <p:cNvPicPr>
            <a:picLocks noChangeAspect="1"/>
          </p:cNvPicPr>
          <p:nvPr/>
        </p:nvPicPr>
        <p:blipFill rotWithShape="1">
          <a:blip r:embed="rId3"/>
          <a:srcRect l="0" t="0" r="23046" b="-1"/>
          <a:stretch/>
        </p:blipFill>
        <p:spPr bwMode="auto">
          <a:xfrm>
            <a:off x="4285860" y="10"/>
            <a:ext cx="7906139" cy="6857989"/>
          </a:xfrm>
          <a:prstGeom prst="rect">
            <a:avLst/>
          </a:prstGeom>
        </p:spPr>
      </p:pic>
      <p:sp useBgFill="1">
        <p:nvSpPr>
          <p:cNvPr id="1366163853" name="Freeform: Shape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0"/>
            <a:ext cx="5592970" cy="6858000"/>
          </a:xfrm>
          <a:custGeom>
            <a:avLst/>
            <a:gdLst>
              <a:gd name="connsiteX0" fmla="*/ 4912746 w 5592970"/>
              <a:gd name="connsiteY0" fmla="*/ 2355321 h 6897159"/>
              <a:gd name="connsiteX1" fmla="*/ 4714738 w 5592970"/>
              <a:gd name="connsiteY1" fmla="*/ 2553329 h 6897159"/>
              <a:gd name="connsiteX2" fmla="*/ 4912746 w 5592970"/>
              <a:gd name="connsiteY2" fmla="*/ 2751337 h 6897159"/>
              <a:gd name="connsiteX3" fmla="*/ 5110754 w 5592970"/>
              <a:gd name="connsiteY3" fmla="*/ 2553329 h 6897159"/>
              <a:gd name="connsiteX4" fmla="*/ 4912746 w 5592970"/>
              <a:gd name="connsiteY4" fmla="*/ 2355321 h 6897159"/>
              <a:gd name="connsiteX5" fmla="*/ 4769785 w 5592970"/>
              <a:gd name="connsiteY5" fmla="*/ 1301525 h 6897159"/>
              <a:gd name="connsiteX6" fmla="*/ 4358192 w 5592970"/>
              <a:gd name="connsiteY6" fmla="*/ 1713118 h 6897159"/>
              <a:gd name="connsiteX7" fmla="*/ 4769785 w 5592970"/>
              <a:gd name="connsiteY7" fmla="*/ 2124711 h 6897159"/>
              <a:gd name="connsiteX8" fmla="*/ 5181378 w 5592970"/>
              <a:gd name="connsiteY8" fmla="*/ 1713118 h 6897159"/>
              <a:gd name="connsiteX9" fmla="*/ 4769785 w 5592970"/>
              <a:gd name="connsiteY9" fmla="*/ 1301525 h 6897159"/>
              <a:gd name="connsiteX10" fmla="*/ 1485712 w 5592970"/>
              <a:gd name="connsiteY10" fmla="*/ 0 h 6897159"/>
              <a:gd name="connsiteX11" fmla="*/ 1911850 w 5592970"/>
              <a:gd name="connsiteY11" fmla="*/ 0 h 6897159"/>
              <a:gd name="connsiteX12" fmla="*/ 4693359 w 5592970"/>
              <a:gd name="connsiteY12" fmla="*/ 0 h 6897159"/>
              <a:gd name="connsiteX13" fmla="*/ 4687196 w 5592970"/>
              <a:gd name="connsiteY13" fmla="*/ 186052 h 6897159"/>
              <a:gd name="connsiteX14" fmla="*/ 4689492 w 5592970"/>
              <a:gd name="connsiteY14" fmla="*/ 422393 h 6897159"/>
              <a:gd name="connsiteX15" fmla="*/ 5029277 w 5592970"/>
              <a:gd name="connsiteY15" fmla="*/ 1074198 h 6897159"/>
              <a:gd name="connsiteX16" fmla="*/ 5368989 w 5592970"/>
              <a:gd name="connsiteY16" fmla="*/ 2604190 h 6897159"/>
              <a:gd name="connsiteX17" fmla="*/ 5030698 w 5592970"/>
              <a:gd name="connsiteY17" fmla="*/ 3182337 h 6897159"/>
              <a:gd name="connsiteX18" fmla="*/ 4910556 w 5592970"/>
              <a:gd name="connsiteY18" fmla="*/ 4667756 h 6897159"/>
              <a:gd name="connsiteX19" fmla="*/ 5374561 w 5592970"/>
              <a:gd name="connsiteY19" fmla="*/ 5703238 h 6897159"/>
              <a:gd name="connsiteX20" fmla="*/ 5591170 w 5592970"/>
              <a:gd name="connsiteY20" fmla="*/ 6745970 h 6897159"/>
              <a:gd name="connsiteX21" fmla="*/ 5592970 w 5592970"/>
              <a:gd name="connsiteY21" fmla="*/ 6897158 h 6897159"/>
              <a:gd name="connsiteX22" fmla="*/ 2734191 w 5592970"/>
              <a:gd name="connsiteY22" fmla="*/ 6897158 h 6897159"/>
              <a:gd name="connsiteX23" fmla="*/ 2734191 w 5592970"/>
              <a:gd name="connsiteY23" fmla="*/ 6897159 h 6897159"/>
              <a:gd name="connsiteX24" fmla="*/ 0 w 5592970"/>
              <a:gd name="connsiteY24" fmla="*/ 6897159 h 6897159"/>
              <a:gd name="connsiteX25" fmla="*/ 0 w 5592970"/>
              <a:gd name="connsiteY25" fmla="*/ 1 h 6897159"/>
              <a:gd name="connsiteX26" fmla="*/ 1485712 w 5592970"/>
              <a:gd name="connsiteY26" fmla="*/ 1 h 6897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92970" h="6897159" fill="norm" stroke="1" extrusionOk="0">
                <a:moveTo>
                  <a:pt x="4912746" y="2355321"/>
                </a:moveTo>
                <a:cubicBezTo>
                  <a:pt x="4803389" y="2355321"/>
                  <a:pt x="4714738" y="2443972"/>
                  <a:pt x="4714738" y="2553329"/>
                </a:cubicBezTo>
                <a:cubicBezTo>
                  <a:pt x="4714738" y="2662686"/>
                  <a:pt x="4803389" y="2751337"/>
                  <a:pt x="4912746" y="2751337"/>
                </a:cubicBezTo>
                <a:cubicBezTo>
                  <a:pt x="5022103" y="2751337"/>
                  <a:pt x="5110754" y="2662686"/>
                  <a:pt x="5110754" y="2553329"/>
                </a:cubicBezTo>
                <a:cubicBezTo>
                  <a:pt x="5110754" y="2443972"/>
                  <a:pt x="5022103" y="2355321"/>
                  <a:pt x="4912746" y="2355321"/>
                </a:cubicBezTo>
                <a:close/>
                <a:moveTo>
                  <a:pt x="4769785" y="1301525"/>
                </a:moveTo>
                <a:cubicBezTo>
                  <a:pt x="4542468" y="1301525"/>
                  <a:pt x="4358192" y="1485801"/>
                  <a:pt x="4358192" y="1713118"/>
                </a:cubicBezTo>
                <a:cubicBezTo>
                  <a:pt x="4358192" y="1940435"/>
                  <a:pt x="4542468" y="2124711"/>
                  <a:pt x="4769785" y="2124711"/>
                </a:cubicBezTo>
                <a:cubicBezTo>
                  <a:pt x="4997102" y="2124711"/>
                  <a:pt x="5181378" y="1940435"/>
                  <a:pt x="5181378" y="1713118"/>
                </a:cubicBezTo>
                <a:cubicBezTo>
                  <a:pt x="5181378" y="1485801"/>
                  <a:pt x="4997102" y="1301525"/>
                  <a:pt x="4769785" y="1301525"/>
                </a:cubicBezTo>
                <a:close/>
                <a:moveTo>
                  <a:pt x="1485712" y="0"/>
                </a:moveTo>
                <a:lnTo>
                  <a:pt x="1911850" y="0"/>
                </a:lnTo>
                <a:lnTo>
                  <a:pt x="4693359" y="0"/>
                </a:lnTo>
                <a:lnTo>
                  <a:pt x="4687196" y="186052"/>
                </a:lnTo>
                <a:cubicBezTo>
                  <a:pt x="4686166" y="265025"/>
                  <a:pt x="4686829" y="343862"/>
                  <a:pt x="4689492" y="422393"/>
                </a:cubicBezTo>
                <a:cubicBezTo>
                  <a:pt x="4699496" y="713539"/>
                  <a:pt x="4872938" y="896626"/>
                  <a:pt x="5029277" y="1074198"/>
                </a:cubicBezTo>
                <a:cubicBezTo>
                  <a:pt x="5418992" y="1516672"/>
                  <a:pt x="5551614" y="2043761"/>
                  <a:pt x="5368989" y="2604190"/>
                </a:cubicBezTo>
                <a:cubicBezTo>
                  <a:pt x="5298163" y="2821542"/>
                  <a:pt x="5160452" y="3010355"/>
                  <a:pt x="5030698" y="3182337"/>
                </a:cubicBezTo>
                <a:cubicBezTo>
                  <a:pt x="4682698" y="3643429"/>
                  <a:pt x="4696957" y="4178177"/>
                  <a:pt x="4910556" y="4667756"/>
                </a:cubicBezTo>
                <a:cubicBezTo>
                  <a:pt x="5062728" y="5015306"/>
                  <a:pt x="5245193" y="5341884"/>
                  <a:pt x="5374561" y="5703238"/>
                </a:cubicBezTo>
                <a:cubicBezTo>
                  <a:pt x="5500512" y="6053410"/>
                  <a:pt x="5575240" y="6402760"/>
                  <a:pt x="5591170" y="6745970"/>
                </a:cubicBezTo>
                <a:lnTo>
                  <a:pt x="5592970" y="6897158"/>
                </a:lnTo>
                <a:lnTo>
                  <a:pt x="2734191" y="6897158"/>
                </a:lnTo>
                <a:lnTo>
                  <a:pt x="2734191" y="6897159"/>
                </a:lnTo>
                <a:lnTo>
                  <a:pt x="0" y="6897159"/>
                </a:lnTo>
                <a:lnTo>
                  <a:pt x="0" y="1"/>
                </a:lnTo>
                <a:lnTo>
                  <a:pt x="1485712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1035162115" name="Título 1"/>
          <p:cNvSpPr>
            <a:spLocks noGrp="1"/>
          </p:cNvSpPr>
          <p:nvPr>
            <p:ph type="ctrTitle"/>
          </p:nvPr>
        </p:nvSpPr>
        <p:spPr bwMode="auto">
          <a:xfrm>
            <a:off x="768569" y="2445620"/>
            <a:ext cx="4197073" cy="2387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/>
              <a:t>Ayudantía intensiva Estructura de datos PP1</a:t>
            </a:r>
            <a:endParaRPr lang="es-US"/>
          </a:p>
        </p:txBody>
      </p:sp>
      <p:sp>
        <p:nvSpPr>
          <p:cNvPr id="193649070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025529" y="5166939"/>
            <a:ext cx="3541909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/>
              <a:t>Cristian Nuñez</a:t>
            </a:r>
            <a:endParaRPr/>
          </a:p>
          <a:p>
            <a:pPr>
              <a:defRPr/>
            </a:pPr>
            <a:endParaRPr lang="es-ES"/>
          </a:p>
          <a:p>
            <a:pPr>
              <a:defRPr/>
            </a:pPr>
            <a:endParaRPr lang="es-US"/>
          </a:p>
        </p:txBody>
      </p:sp>
      <p:pic>
        <p:nvPicPr>
          <p:cNvPr id="1524608159" name="Imagen 16" descr="Logotipo&#10;&#10;Descripción generada automáticament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799217" y="152423"/>
            <a:ext cx="1175704" cy="1175704"/>
          </a:xfrm>
          <a:prstGeom prst="rect">
            <a:avLst/>
          </a:prstGeom>
        </p:spPr>
      </p:pic>
      <p:pic>
        <p:nvPicPr>
          <p:cNvPr id="1712373483" name="Imagen 4" descr="Imagen que contiene firmar, sostener, dibujo, alimentos&#10;&#10;Descripción generada automáticament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17079" y="0"/>
            <a:ext cx="3127519" cy="13656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491042" name="Título 1"/>
          <p:cNvSpPr>
            <a:spLocks noGrp="1"/>
          </p:cNvSpPr>
          <p:nvPr>
            <p:ph type="title"/>
          </p:nvPr>
        </p:nvSpPr>
        <p:spPr bwMode="auto">
          <a:xfrm>
            <a:off x="4419600" y="115846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Contenidos</a:t>
            </a:r>
            <a:endParaRPr lang="es-US">
              <a:solidFill>
                <a:srgbClr val="B0EBDF"/>
              </a:solidFill>
            </a:endParaRPr>
          </a:p>
        </p:txBody>
      </p:sp>
      <p:sp>
        <p:nvSpPr>
          <p:cNvPr id="74916975" name="CuadroTexto 3"/>
          <p:cNvSpPr txBox="1"/>
          <p:nvPr/>
        </p:nvSpPr>
        <p:spPr bwMode="auto">
          <a:xfrm>
            <a:off x="727587" y="2141892"/>
            <a:ext cx="6152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ES" sz="4400">
                <a:latin typeface="+mj-lt"/>
              </a:rPr>
              <a:t>A) Punteros y herencia</a:t>
            </a:r>
            <a:endParaRPr lang="es-US" sz="4400">
              <a:latin typeface="+mj-lt"/>
            </a:endParaRPr>
          </a:p>
        </p:txBody>
      </p:sp>
      <p:sp>
        <p:nvSpPr>
          <p:cNvPr id="641395846" name="CuadroTexto 5"/>
          <p:cNvSpPr txBox="1"/>
          <p:nvPr/>
        </p:nvSpPr>
        <p:spPr bwMode="auto">
          <a:xfrm>
            <a:off x="727587" y="3177227"/>
            <a:ext cx="50834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ES" sz="4400">
                <a:latin typeface="+mj-lt"/>
              </a:rPr>
              <a:t>B) Listas enlazadas</a:t>
            </a:r>
            <a:endParaRPr lang="es-US" sz="4400">
              <a:latin typeface="+mj-lt"/>
            </a:endParaRPr>
          </a:p>
        </p:txBody>
      </p:sp>
      <p:sp>
        <p:nvSpPr>
          <p:cNvPr id="2005810379" name="CuadroTexto 2"/>
          <p:cNvSpPr txBox="1"/>
          <p:nvPr/>
        </p:nvSpPr>
        <p:spPr bwMode="auto">
          <a:xfrm>
            <a:off x="827435" y="4359641"/>
            <a:ext cx="40927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ES" sz="4400">
                <a:latin typeface="+mj-lt"/>
              </a:rPr>
              <a:t>C) Pilas y colas</a:t>
            </a:r>
            <a:endParaRPr lang="es-US" sz="440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5019FF"/>
            </a:gs>
            <a:gs pos="53000">
              <a:srgbClr val="014AFF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453589" name="Rectangle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6221" name="Freeform: Shape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 fill="norm" stroke="1" extrusionOk="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645411676" name="Background Fill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6707768" name="Rectangle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1619810" name="Freeform: Shape 1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 fill="norm" stroke="1" extrusionOk="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89938178" name="Marcador de contenido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07566" y="1919652"/>
            <a:ext cx="4974834" cy="2537164"/>
          </a:xfrm>
          <a:prstGeom prst="rect">
            <a:avLst/>
          </a:prstGeom>
        </p:spPr>
      </p:pic>
      <p:sp>
        <p:nvSpPr>
          <p:cNvPr id="1788204461" name="CuadroTexto 4"/>
          <p:cNvSpPr txBox="1"/>
          <p:nvPr/>
        </p:nvSpPr>
        <p:spPr bwMode="auto">
          <a:xfrm>
            <a:off x="413993" y="1120567"/>
            <a:ext cx="49748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4400">
                <a:solidFill>
                  <a:srgbClr val="FFFFFF"/>
                </a:solidFill>
                <a:latin typeface="+mj-lt"/>
              </a:rPr>
              <a:t>Punteros y Herencia (Ruteo)</a:t>
            </a:r>
            <a:endParaRPr lang="es-US" sz="440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610018" name="Título 1"/>
          <p:cNvSpPr>
            <a:spLocks noGrp="1"/>
          </p:cNvSpPr>
          <p:nvPr>
            <p:ph type="title"/>
          </p:nvPr>
        </p:nvSpPr>
        <p:spPr bwMode="auto">
          <a:xfrm>
            <a:off x="10174550" y="-458982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Ruteo </a:t>
            </a:r>
            <a:endParaRPr lang="es-US"/>
          </a:p>
        </p:txBody>
      </p:sp>
      <p:pic>
        <p:nvPicPr>
          <p:cNvPr id="2112321793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656" y="1763394"/>
            <a:ext cx="3258005" cy="3572374"/>
          </a:xfrm>
          <a:prstGeom prst="rect">
            <a:avLst/>
          </a:prstGeom>
        </p:spPr>
      </p:pic>
      <p:pic>
        <p:nvPicPr>
          <p:cNvPr id="43859618" name="Imagen 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21887" y="1592440"/>
            <a:ext cx="3527213" cy="2647964"/>
          </a:xfrm>
          <a:prstGeom prst="rect">
            <a:avLst/>
          </a:prstGeom>
        </p:spPr>
      </p:pic>
      <p:pic>
        <p:nvPicPr>
          <p:cNvPr id="228167070" name="Imagen 9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070114" y="1124542"/>
            <a:ext cx="3286584" cy="5010849"/>
          </a:xfrm>
          <a:prstGeom prst="rect">
            <a:avLst/>
          </a:prstGeom>
        </p:spPr>
      </p:pic>
      <p:sp>
        <p:nvSpPr>
          <p:cNvPr id="1989122624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929843783" name="Título 1"/>
          <p:cNvSpPr txBox="1"/>
          <p:nvPr/>
        </p:nvSpPr>
        <p:spPr bwMode="auto">
          <a:xfrm>
            <a:off x="0" y="5279767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¿Qué se imprime por pantalla?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3169" name="Título 1"/>
          <p:cNvSpPr>
            <a:spLocks noGrp="1"/>
          </p:cNvSpPr>
          <p:nvPr>
            <p:ph type="title"/>
          </p:nvPr>
        </p:nvSpPr>
        <p:spPr bwMode="auto">
          <a:xfrm>
            <a:off x="10174550" y="-458982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Ruteo </a:t>
            </a:r>
            <a:endParaRPr lang="es-US"/>
          </a:p>
        </p:txBody>
      </p:sp>
      <p:sp>
        <p:nvSpPr>
          <p:cNvPr id="1236322121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2</a:t>
            </a:r>
            <a:endParaRPr lang="es-US"/>
          </a:p>
        </p:txBody>
      </p:sp>
      <p:sp>
        <p:nvSpPr>
          <p:cNvPr id="1918727429" name="Título 1"/>
          <p:cNvSpPr txBox="1"/>
          <p:nvPr/>
        </p:nvSpPr>
        <p:spPr bwMode="auto">
          <a:xfrm>
            <a:off x="1197562" y="4148300"/>
            <a:ext cx="368078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4000"/>
              <a:t>Encontrar las líneas que contengan algún error y explicar el error.</a:t>
            </a:r>
            <a:endParaRPr lang="es-US" sz="4000"/>
          </a:p>
        </p:txBody>
      </p:sp>
      <p:pic>
        <p:nvPicPr>
          <p:cNvPr id="1458385756" name="Imagen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25739" y="455009"/>
            <a:ext cx="4028309" cy="6125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512613" name="Título 1"/>
          <p:cNvSpPr>
            <a:spLocks noGrp="1"/>
          </p:cNvSpPr>
          <p:nvPr>
            <p:ph type="title"/>
          </p:nvPr>
        </p:nvSpPr>
        <p:spPr bwMode="auto">
          <a:xfrm>
            <a:off x="10174550" y="-458982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Ruteo </a:t>
            </a:r>
            <a:endParaRPr lang="es-US"/>
          </a:p>
        </p:txBody>
      </p:sp>
      <p:pic>
        <p:nvPicPr>
          <p:cNvPr id="2007244742" name="Imagen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31208" y="694943"/>
            <a:ext cx="4963218" cy="5468113"/>
          </a:xfrm>
          <a:prstGeom prst="rect">
            <a:avLst/>
          </a:prstGeom>
        </p:spPr>
      </p:pic>
      <p:sp>
        <p:nvSpPr>
          <p:cNvPr id="1243708685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3 </a:t>
            </a:r>
            <a:endParaRPr lang="es-US"/>
          </a:p>
        </p:txBody>
      </p:sp>
      <p:sp>
        <p:nvSpPr>
          <p:cNvPr id="813450023" name="Título 1"/>
          <p:cNvSpPr txBox="1"/>
          <p:nvPr/>
        </p:nvSpPr>
        <p:spPr bwMode="auto">
          <a:xfrm>
            <a:off x="269035" y="2103436"/>
            <a:ext cx="46747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¿Qué se imprime por pantalla?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15716" name="Título 1"/>
          <p:cNvSpPr>
            <a:spLocks noGrp="1"/>
          </p:cNvSpPr>
          <p:nvPr>
            <p:ph type="title"/>
          </p:nvPr>
        </p:nvSpPr>
        <p:spPr bwMode="auto">
          <a:xfrm>
            <a:off x="10174550" y="-458982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Ruteo </a:t>
            </a:r>
            <a:endParaRPr lang="es-US"/>
          </a:p>
        </p:txBody>
      </p:sp>
      <p:sp>
        <p:nvSpPr>
          <p:cNvPr id="1713785210" name="Título 1"/>
          <p:cNvSpPr txBox="1"/>
          <p:nvPr/>
        </p:nvSpPr>
        <p:spPr bwMode="auto">
          <a:xfrm>
            <a:off x="609600" y="-330002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4 </a:t>
            </a:r>
            <a:endParaRPr lang="es-US"/>
          </a:p>
        </p:txBody>
      </p:sp>
      <p:sp>
        <p:nvSpPr>
          <p:cNvPr id="1745295381" name="Título 1"/>
          <p:cNvSpPr txBox="1"/>
          <p:nvPr/>
        </p:nvSpPr>
        <p:spPr bwMode="auto">
          <a:xfrm>
            <a:off x="269035" y="2103436"/>
            <a:ext cx="46747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s-US"/>
          </a:p>
        </p:txBody>
      </p:sp>
      <p:pic>
        <p:nvPicPr>
          <p:cNvPr id="1986526592" name="Imagen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9035" y="1124542"/>
            <a:ext cx="5390319" cy="1648803"/>
          </a:xfrm>
          <a:prstGeom prst="rect">
            <a:avLst/>
          </a:prstGeom>
        </p:spPr>
      </p:pic>
      <p:pic>
        <p:nvPicPr>
          <p:cNvPr id="805014877" name="Imagen 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9035" y="2808128"/>
            <a:ext cx="5390319" cy="1664292"/>
          </a:xfrm>
          <a:prstGeom prst="rect">
            <a:avLst/>
          </a:prstGeom>
        </p:spPr>
      </p:pic>
      <p:pic>
        <p:nvPicPr>
          <p:cNvPr id="1198039412" name="Imagen 10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69034" y="4507203"/>
            <a:ext cx="5390319" cy="1634564"/>
          </a:xfrm>
          <a:prstGeom prst="rect">
            <a:avLst/>
          </a:prstGeom>
        </p:spPr>
      </p:pic>
      <p:pic>
        <p:nvPicPr>
          <p:cNvPr id="1889409214" name="Imagen 1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806495" y="182053"/>
            <a:ext cx="4368055" cy="4567135"/>
          </a:xfrm>
          <a:prstGeom prst="rect">
            <a:avLst/>
          </a:prstGeom>
        </p:spPr>
      </p:pic>
      <p:sp>
        <p:nvSpPr>
          <p:cNvPr id="136728871" name="Título 1"/>
          <p:cNvSpPr txBox="1"/>
          <p:nvPr/>
        </p:nvSpPr>
        <p:spPr bwMode="auto">
          <a:xfrm>
            <a:off x="6269576" y="5159809"/>
            <a:ext cx="46747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¿Qué se imprime por pantalla?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50031" name="Título 1"/>
          <p:cNvSpPr>
            <a:spLocks noGrp="1"/>
          </p:cNvSpPr>
          <p:nvPr>
            <p:ph type="title"/>
          </p:nvPr>
        </p:nvSpPr>
        <p:spPr bwMode="auto">
          <a:xfrm>
            <a:off x="6940062" y="-364800"/>
            <a:ext cx="8414657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Listas enlazadas </a:t>
            </a:r>
            <a:endParaRPr lang="es-US">
              <a:solidFill>
                <a:srgbClr val="B0EBDF"/>
              </a:solidFill>
            </a:endParaRPr>
          </a:p>
        </p:txBody>
      </p:sp>
      <p:pic>
        <p:nvPicPr>
          <p:cNvPr id="1012972856" name="Imagen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0817" y="1008075"/>
            <a:ext cx="8961767" cy="1700353"/>
          </a:xfrm>
          <a:prstGeom prst="rect">
            <a:avLst/>
          </a:prstGeom>
        </p:spPr>
      </p:pic>
      <p:pic>
        <p:nvPicPr>
          <p:cNvPr id="312684007" name="Imagen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724" y="2490656"/>
            <a:ext cx="6906589" cy="1876687"/>
          </a:xfrm>
          <a:prstGeom prst="rect">
            <a:avLst/>
          </a:prstGeom>
        </p:spPr>
      </p:pic>
      <p:pic>
        <p:nvPicPr>
          <p:cNvPr id="1080136252" name="Imagen 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206639" y="4367343"/>
            <a:ext cx="6754168" cy="1667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253624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Listas enlazadas  </a:t>
            </a:r>
            <a:endParaRPr lang="es-US"/>
          </a:p>
        </p:txBody>
      </p:sp>
      <p:sp>
        <p:nvSpPr>
          <p:cNvPr id="1815333652" name="CuadroTexto 5"/>
          <p:cNvSpPr txBox="1"/>
          <p:nvPr/>
        </p:nvSpPr>
        <p:spPr bwMode="auto">
          <a:xfrm>
            <a:off x="512468" y="3678091"/>
            <a:ext cx="10902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Desafío:</a:t>
            </a:r>
            <a:endParaRPr/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Tengo una lista enlazada simple que almacena números de forma desordenada desde el 1 hasta el numero N.</a:t>
            </a:r>
            <a:endParaRPr/>
          </a:p>
          <a:p>
            <a:pPr>
              <a:defRPr/>
            </a:pPr>
            <a:endParaRPr lang="es-ES" sz="2400">
              <a:latin typeface="ADLaM Display"/>
              <a:ea typeface="ADLaM Display"/>
              <a:cs typeface="ADLaM Display"/>
            </a:endParaRPr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Crear una función que pueda eliminar todos los números primos de la lista enlazada.</a:t>
            </a:r>
            <a:endParaRPr/>
          </a:p>
        </p:txBody>
      </p:sp>
      <p:pic>
        <p:nvPicPr>
          <p:cNvPr id="282979965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44950" y="434910"/>
            <a:ext cx="3457769" cy="3144815"/>
          </a:xfrm>
          <a:prstGeom prst="rect">
            <a:avLst/>
          </a:prstGeom>
        </p:spPr>
      </p:pic>
      <p:sp>
        <p:nvSpPr>
          <p:cNvPr id="260584975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425665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Listas enlazadas  </a:t>
            </a:r>
            <a:endParaRPr lang="es-US"/>
          </a:p>
        </p:txBody>
      </p:sp>
      <p:sp>
        <p:nvSpPr>
          <p:cNvPr id="2056603644" name="CuadroTexto 5"/>
          <p:cNvSpPr txBox="1"/>
          <p:nvPr/>
        </p:nvSpPr>
        <p:spPr bwMode="auto">
          <a:xfrm>
            <a:off x="512468" y="3678091"/>
            <a:ext cx="109024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Desafío:</a:t>
            </a:r>
            <a:endParaRPr/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Tengo una lista de enlace doble y de tipo circular que almacena números.</a:t>
            </a:r>
            <a:endParaRPr/>
          </a:p>
          <a:p>
            <a:pPr>
              <a:defRPr/>
            </a:pPr>
            <a:endParaRPr lang="es-ES" sz="2400">
              <a:latin typeface="ADLaM Display"/>
              <a:ea typeface="ADLaM Display"/>
              <a:cs typeface="ADLaM Display"/>
            </a:endParaRPr>
          </a:p>
          <a:p>
            <a:pPr>
              <a:defRPr/>
            </a:pPr>
            <a:r>
              <a:rPr lang="es-ES" sz="2400">
                <a:latin typeface="ADLaM Display"/>
                <a:ea typeface="ADLaM Display"/>
                <a:cs typeface="ADLaM Display"/>
              </a:rPr>
              <a:t>Crear una función que pueda detectar si una lista es palíndroma (true o false).</a:t>
            </a:r>
            <a:endParaRPr/>
          </a:p>
        </p:txBody>
      </p:sp>
      <p:sp>
        <p:nvSpPr>
          <p:cNvPr id="267512002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2 </a:t>
            </a:r>
            <a:endParaRPr lang="es-US"/>
          </a:p>
        </p:txBody>
      </p:sp>
      <p:pic>
        <p:nvPicPr>
          <p:cNvPr id="1820545194" name="Imagen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44950" y="434909"/>
            <a:ext cx="3457768" cy="3144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6445204" name="Picture 3" descr="LENGUAJE DE PROGRAMACION III : Estructura Dinámicas pilas, colas, y listas."/>
          <p:cNvPicPr/>
          <p:nvPr/>
        </p:nvPicPr>
        <p:blipFill rotWithShape="1">
          <a:blip r:embed="rId3"/>
          <a:stretch/>
        </p:blipFill>
        <p:spPr bwMode="auto">
          <a:xfrm>
            <a:off x="1473236" y="2184354"/>
            <a:ext cx="4408177" cy="4129147"/>
          </a:xfrm>
          <a:prstGeom prst="rect">
            <a:avLst/>
          </a:prstGeom>
          <a:ln w="0">
            <a:noFill/>
          </a:ln>
        </p:spPr>
      </p:pic>
      <p:sp>
        <p:nvSpPr>
          <p:cNvPr id="963610782" name="CuadroTexto 3"/>
          <p:cNvSpPr txBox="1"/>
          <p:nvPr/>
        </p:nvSpPr>
        <p:spPr bwMode="auto">
          <a:xfrm>
            <a:off x="6429640" y="1390290"/>
            <a:ext cx="5220260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un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Top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nodo del tope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pila esta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pila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078010959" name="Título 1"/>
          <p:cNvSpPr txBox="1"/>
          <p:nvPr/>
        </p:nvSpPr>
        <p:spPr bwMode="auto">
          <a:xfrm>
            <a:off x="5754624" y="70127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>
                <a:solidFill>
                  <a:srgbClr val="B0EBDF"/>
                </a:solidFill>
              </a:rPr>
              <a:t>Pila (stack, lifo)</a:t>
            </a:r>
            <a:endParaRPr lang="es-US">
              <a:solidFill>
                <a:srgbClr val="B0EBD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accent6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245628" name="Título 1"/>
          <p:cNvSpPr txBox="1"/>
          <p:nvPr/>
        </p:nvSpPr>
        <p:spPr bwMode="auto">
          <a:xfrm>
            <a:off x="4629912" y="0"/>
            <a:ext cx="8414657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5400">
                <a:solidFill>
                  <a:srgbClr val="B0EBDF"/>
                </a:solidFill>
              </a:rPr>
              <a:t>Cola (</a:t>
            </a:r>
            <a:r>
              <a:rPr lang="es-ES" sz="5400">
                <a:solidFill>
                  <a:srgbClr val="B0EBDF"/>
                </a:solidFill>
              </a:rPr>
              <a:t>queue</a:t>
            </a:r>
            <a:r>
              <a:rPr lang="es-ES" sz="5400">
                <a:solidFill>
                  <a:srgbClr val="B0EBDF"/>
                </a:solidFill>
              </a:rPr>
              <a:t>, fifo)</a:t>
            </a:r>
            <a:endParaRPr lang="es-US" sz="5400">
              <a:solidFill>
                <a:srgbClr val="B0EBDF"/>
              </a:solidFill>
            </a:endParaRPr>
          </a:p>
        </p:txBody>
      </p:sp>
      <p:sp>
        <p:nvSpPr>
          <p:cNvPr id="2129812234" name="CuadroTexto 10"/>
          <p:cNvSpPr txBox="1"/>
          <p:nvPr/>
        </p:nvSpPr>
        <p:spPr bwMode="auto">
          <a:xfrm>
            <a:off x="6310589" y="1855989"/>
            <a:ext cx="6523348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680">
              <a:lnSpc>
                <a:spcPct val="90000"/>
              </a:lnSpc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Funciones</a:t>
            </a:r>
            <a:endParaRPr lang="es-CL" sz="1800" b="0" strike="noStrike" spc="-1">
              <a:solidFill>
                <a:schemeClr val="bg1"/>
              </a:solidFill>
              <a:latin typeface="Times New Roman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Push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Insertar nodo al final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Pop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Elimina 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el primer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front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Retoma el </a:t>
            </a:r>
            <a:r>
              <a:rPr lang="es-ES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primer nodo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ES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Back</a:t>
            </a:r>
            <a:r>
              <a:rPr lang="es-ES" spc="-1">
                <a:solidFill>
                  <a:schemeClr val="bg1"/>
                </a:solidFill>
                <a:latin typeface="Roboto Slab"/>
                <a:ea typeface="Roboto Slab"/>
              </a:rPr>
              <a:t>: Retorna el ultimo nodo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z="1800" b="0" strike="noStrike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Empty</a:t>
            </a:r>
            <a:r>
              <a:rPr lang="es-MX" sz="1800" b="0" strike="noStrike" spc="-1">
                <a:solidFill>
                  <a:srgbClr val="595959"/>
                </a:solidFill>
                <a:latin typeface="Roboto Slab"/>
                <a:ea typeface="Roboto Slab"/>
              </a:rPr>
              <a:t>: </a:t>
            </a:r>
            <a:r>
              <a:rPr lang="es-MX" sz="1800" b="0" strike="noStrike" spc="-1">
                <a:solidFill>
                  <a:schemeClr val="bg1"/>
                </a:solidFill>
                <a:latin typeface="Roboto Slab"/>
                <a:ea typeface="Roboto Slab"/>
              </a:rPr>
              <a:t>True si la cola está vacía</a:t>
            </a:r>
            <a:endParaRPr/>
          </a:p>
          <a:p>
            <a:pPr marL="635040" lvl="1" indent="-171360">
              <a:lnSpc>
                <a:spcPct val="90000"/>
              </a:lnSpc>
              <a:buClr>
                <a:srgbClr val="000000"/>
              </a:buClr>
              <a:buFont typeface="Wingdings"/>
              <a:buChar char=""/>
              <a:tabLst>
                <a:tab pos="0" algn="l"/>
              </a:tabLst>
              <a:defRPr/>
            </a:pPr>
            <a:r>
              <a:rPr lang="es-MX" spc="-1">
                <a:solidFill>
                  <a:schemeClr val="accent3">
                    <a:lumMod val="20000"/>
                    <a:lumOff val="80000"/>
                  </a:schemeClr>
                </a:solidFill>
                <a:latin typeface="Roboto Slab"/>
                <a:ea typeface="Roboto Slab"/>
              </a:rPr>
              <a:t>Size</a:t>
            </a:r>
            <a:r>
              <a:rPr lang="es-MX" spc="-1">
                <a:solidFill>
                  <a:schemeClr val="bg1"/>
                </a:solidFill>
                <a:latin typeface="Roboto Slab"/>
                <a:ea typeface="Roboto Slab"/>
              </a:rPr>
              <a:t>: tamaño de la cola</a:t>
            </a:r>
            <a:endParaRPr lang="es-CL" sz="1800" b="0" strike="noStrike" spc="-1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67897035" name="Picture 4" descr="Colas en C++"/>
          <p:cNvPicPr/>
          <p:nvPr/>
        </p:nvPicPr>
        <p:blipFill rotWithShape="1">
          <a:blip r:embed="rId3"/>
          <a:stretch/>
        </p:blipFill>
        <p:spPr bwMode="auto">
          <a:xfrm>
            <a:off x="825515" y="3122554"/>
            <a:ext cx="4863176" cy="231671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808763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580374028" name="Título 1"/>
          <p:cNvSpPr txBox="1"/>
          <p:nvPr/>
        </p:nvSpPr>
        <p:spPr bwMode="auto">
          <a:xfrm>
            <a:off x="280022" y="-523730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267004314" name="CuadroTexto 5"/>
          <p:cNvSpPr txBox="1"/>
          <p:nvPr/>
        </p:nvSpPr>
        <p:spPr bwMode="auto">
          <a:xfrm>
            <a:off x="534970" y="2613483"/>
            <a:ext cx="11276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>
                <a:latin typeface="+mj-lt"/>
              </a:rPr>
              <a:t>Implementa un programa en C++ que invierta una cadena de texto utilizando una pila. El objetivo es demostrar cómo las pilas se pueden utilizar para revertir el orden de elementos.</a:t>
            </a: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endParaRPr lang="es-ES" b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Ejemplo:</a:t>
            </a:r>
            <a:endParaRPr/>
          </a:p>
          <a:p>
            <a:pPr>
              <a:defRPr/>
            </a:pPr>
            <a:endParaRPr lang="es-ES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Entrada: HOLA MUNDO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Salida: ODNUM ALOH</a:t>
            </a:r>
            <a:endParaRPr/>
          </a:p>
        </p:txBody>
      </p:sp>
      <p:sp>
        <p:nvSpPr>
          <p:cNvPr id="1373048944" name="CuadroTexto 6"/>
          <p:cNvSpPr txBox="1"/>
          <p:nvPr/>
        </p:nvSpPr>
        <p:spPr bwMode="auto">
          <a:xfrm>
            <a:off x="432917" y="198700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/>
              <a:t>Invertir una Cadena utilizando Pilas</a:t>
            </a:r>
            <a:endParaRPr lang="es-US" sz="20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890398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1952020727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1302935848" name="CuadroTexto 3"/>
          <p:cNvSpPr txBox="1"/>
          <p:nvPr/>
        </p:nvSpPr>
        <p:spPr bwMode="auto">
          <a:xfrm>
            <a:off x="760861" y="1178079"/>
            <a:ext cx="721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>
                <a:latin typeface="+mj-lt"/>
              </a:rPr>
              <a:t>Verificación de Expresiones Matemáticas Balanceadas</a:t>
            </a:r>
            <a:endParaRPr lang="es-US" sz="2000" b="1">
              <a:latin typeface="+mj-lt"/>
            </a:endParaRPr>
          </a:p>
        </p:txBody>
      </p:sp>
      <p:sp>
        <p:nvSpPr>
          <p:cNvPr id="1275323919" name="CuadroTexto 4"/>
          <p:cNvSpPr txBox="1"/>
          <p:nvPr/>
        </p:nvSpPr>
        <p:spPr bwMode="auto">
          <a:xfrm>
            <a:off x="534970" y="2613483"/>
            <a:ext cx="112768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Debes implementar un programa que verifique si los paréntesis en una expresión matemática están balanceados. Una expresión está balanceada si: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Cada paréntesis abierto ( tiene un paréntesis de cierre correspondiente ).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Los paréntesis están correctamente anidados.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Por ejemplo: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válida: (a + b) * (c + d)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((a + b) * (c + d) → No hay paréntesis que cierre correctamente.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Expresión inválida: (a + b)) → Un paréntesis extra de cierre.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75000"/>
            <a:alpha val="19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93379" name="Título 1"/>
          <p:cNvSpPr>
            <a:spLocks noGrp="1"/>
          </p:cNvSpPr>
          <p:nvPr>
            <p:ph type="title"/>
          </p:nvPr>
        </p:nvSpPr>
        <p:spPr bwMode="auto">
          <a:xfrm>
            <a:off x="7582077" y="-378596"/>
            <a:ext cx="10972800" cy="1325563"/>
          </a:xfrm>
        </p:spPr>
        <p:txBody>
          <a:bodyPr/>
          <a:lstStyle/>
          <a:p>
            <a:pPr>
              <a:defRPr/>
            </a:pPr>
            <a:r>
              <a:rPr lang="es-ES"/>
              <a:t>Pilas (</a:t>
            </a:r>
            <a:r>
              <a:rPr lang="es-ES"/>
              <a:t>stack</a:t>
            </a:r>
            <a:r>
              <a:rPr lang="es-ES"/>
              <a:t>, </a:t>
            </a:r>
            <a:r>
              <a:rPr lang="es-ES"/>
              <a:t>lifo</a:t>
            </a:r>
            <a:r>
              <a:rPr lang="es-ES"/>
              <a:t>)</a:t>
            </a:r>
            <a:endParaRPr lang="es-US"/>
          </a:p>
        </p:txBody>
      </p:sp>
      <p:sp>
        <p:nvSpPr>
          <p:cNvPr id="1745686686" name="Título 1"/>
          <p:cNvSpPr txBox="1"/>
          <p:nvPr/>
        </p:nvSpPr>
        <p:spPr bwMode="auto">
          <a:xfrm>
            <a:off x="269631" y="-329413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/>
              <a:t>1 </a:t>
            </a:r>
            <a:endParaRPr lang="es-US"/>
          </a:p>
        </p:txBody>
      </p:sp>
      <p:sp>
        <p:nvSpPr>
          <p:cNvPr id="232017014" name="CuadroTexto 3"/>
          <p:cNvSpPr txBox="1"/>
          <p:nvPr/>
        </p:nvSpPr>
        <p:spPr bwMode="auto">
          <a:xfrm>
            <a:off x="760861" y="1178079"/>
            <a:ext cx="721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000" b="1">
                <a:latin typeface="+mj-lt"/>
              </a:rPr>
              <a:t>Verificación de </a:t>
            </a:r>
            <a:r>
              <a:rPr lang="es-ES" sz="2000" b="1">
                <a:latin typeface="+mj-lt"/>
              </a:rPr>
              <a:t>string</a:t>
            </a:r>
            <a:r>
              <a:rPr lang="es-ES" sz="2000" b="1">
                <a:latin typeface="+mj-lt"/>
              </a:rPr>
              <a:t> </a:t>
            </a:r>
            <a:r>
              <a:rPr lang="es-ES" sz="2000" b="1">
                <a:latin typeface="+mj-lt"/>
              </a:rPr>
              <a:t>palindromo</a:t>
            </a:r>
            <a:endParaRPr lang="es-US" sz="2000" b="1">
              <a:latin typeface="+mj-lt"/>
            </a:endParaRPr>
          </a:p>
        </p:txBody>
      </p:sp>
      <p:sp>
        <p:nvSpPr>
          <p:cNvPr id="2048138505" name="CuadroTexto 4"/>
          <p:cNvSpPr txBox="1"/>
          <p:nvPr/>
        </p:nvSpPr>
        <p:spPr bwMode="auto">
          <a:xfrm>
            <a:off x="534970" y="2613483"/>
            <a:ext cx="112768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Debes implementar un programa que verifique si 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un 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string</a:t>
            </a: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 es un palíndromo, un palíndromo es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>
                <a:latin typeface="+mj-lt"/>
              </a:rPr>
              <a:t>palabra, número, frase o cualquier secuencia de caracteres que se lee igual de izquierda a derecha que de derecha a izquierda.</a:t>
            </a:r>
            <a:endParaRPr/>
          </a:p>
          <a:p>
            <a:pPr>
              <a:defRPr/>
            </a:pP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Por ejemplo:</a:t>
            </a:r>
            <a:endParaRPr/>
          </a:p>
          <a:p>
            <a:pPr>
              <a:defRPr/>
            </a:pPr>
            <a:b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</a:b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válida: “</a:t>
            </a:r>
            <a:r>
              <a:rPr lang="es-US">
                <a:latin typeface="+mj-lt"/>
              </a:rPr>
              <a:t>radar” 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válida : “12321”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inválida: “</a:t>
            </a:r>
            <a:r>
              <a:rPr lang="es-US">
                <a:latin typeface="+mj-lt"/>
              </a:rPr>
              <a:t>perro”</a:t>
            </a:r>
            <a:endParaRPr/>
          </a:p>
          <a:p>
            <a:pPr>
              <a:defRPr/>
            </a:pPr>
            <a:r>
              <a:rPr lang="es-ES">
                <a:solidFill>
                  <a:schemeClr val="tx2">
                    <a:lumMod val="50000"/>
                  </a:schemeClr>
                </a:solidFill>
                <a:latin typeface="+mj-lt"/>
              </a:rPr>
              <a:t>P</a:t>
            </a:r>
            <a:r>
              <a:rPr lang="es-ES" b="0">
                <a:solidFill>
                  <a:schemeClr val="tx2">
                    <a:lumMod val="50000"/>
                  </a:schemeClr>
                </a:solidFill>
                <a:latin typeface="+mj-lt"/>
              </a:rPr>
              <a:t>alabra inválida: “12322”</a:t>
            </a:r>
            <a:endParaRPr/>
          </a:p>
          <a:p>
            <a:pPr>
              <a:defRPr/>
            </a:pPr>
            <a:endParaRPr lang="es-ES" b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Arial"/>
        <a:cs typeface="Arial"/>
      </a:majorFont>
      <a:minorFont>
        <a:latin typeface="Avenir Next LT Pro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nuñez</dc:creator>
  <cp:lastModifiedBy/>
  <cp:revision>34</cp:revision>
  <dcterms:created xsi:type="dcterms:W3CDTF">2024-08-26T19:39:28Z</dcterms:created>
  <dcterms:modified xsi:type="dcterms:W3CDTF">2026-04-15T04:24:21Z</dcterms:modified>
</cp:coreProperties>
</file>